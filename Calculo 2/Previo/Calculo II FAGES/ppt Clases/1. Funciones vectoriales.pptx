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52" r:id="rId2"/>
    <p:sldId id="413" r:id="rId3"/>
    <p:sldId id="339" r:id="rId4"/>
    <p:sldId id="416" r:id="rId5"/>
    <p:sldId id="417" r:id="rId6"/>
    <p:sldId id="418" r:id="rId7"/>
    <p:sldId id="419" r:id="rId8"/>
    <p:sldId id="420" r:id="rId9"/>
    <p:sldId id="421" r:id="rId10"/>
    <p:sldId id="351" r:id="rId11"/>
    <p:sldId id="422" r:id="rId12"/>
    <p:sldId id="337" r:id="rId13"/>
    <p:sldId id="414" r:id="rId14"/>
    <p:sldId id="423" r:id="rId15"/>
    <p:sldId id="428" r:id="rId16"/>
    <p:sldId id="429" r:id="rId17"/>
    <p:sldId id="430" r:id="rId18"/>
    <p:sldId id="431" r:id="rId19"/>
    <p:sldId id="432" r:id="rId20"/>
    <p:sldId id="444" r:id="rId21"/>
    <p:sldId id="433" r:id="rId22"/>
    <p:sldId id="434" r:id="rId23"/>
    <p:sldId id="436" r:id="rId24"/>
    <p:sldId id="435" r:id="rId25"/>
    <p:sldId id="437" r:id="rId26"/>
    <p:sldId id="348" r:id="rId27"/>
    <p:sldId id="439" r:id="rId28"/>
    <p:sldId id="440" r:id="rId29"/>
    <p:sldId id="441" r:id="rId30"/>
    <p:sldId id="442" r:id="rId31"/>
    <p:sldId id="443" r:id="rId32"/>
    <p:sldId id="438" r:id="rId33"/>
    <p:sldId id="445" r:id="rId34"/>
    <p:sldId id="446" r:id="rId35"/>
    <p:sldId id="447" r:id="rId36"/>
    <p:sldId id="448" r:id="rId37"/>
    <p:sldId id="449" r:id="rId38"/>
    <p:sldId id="450" r:id="rId39"/>
    <p:sldId id="451" r:id="rId40"/>
    <p:sldId id="452" r:id="rId41"/>
    <p:sldId id="453" r:id="rId42"/>
    <p:sldId id="455" r:id="rId43"/>
    <p:sldId id="456" r:id="rId4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3A6BEA-0101-4DD7-9038-5E8EECF34BA0}" v="64" dt="2025-03-18T04:44:21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GES LUCIANO RODOLFO" userId="224ab6d9-70b5-4e2a-bfb3-d436487689cf" providerId="ADAL" clId="{5F3A6BEA-0101-4DD7-9038-5E8EECF34BA0}"/>
    <pc:docChg chg="modSld">
      <pc:chgData name="FAGES LUCIANO RODOLFO" userId="224ab6d9-70b5-4e2a-bfb3-d436487689cf" providerId="ADAL" clId="{5F3A6BEA-0101-4DD7-9038-5E8EECF34BA0}" dt="2025-03-18T04:44:21" v="66" actId="20577"/>
      <pc:docMkLst>
        <pc:docMk/>
      </pc:docMkLst>
      <pc:sldChg chg="modSp">
        <pc:chgData name="FAGES LUCIANO RODOLFO" userId="224ab6d9-70b5-4e2a-bfb3-d436487689cf" providerId="ADAL" clId="{5F3A6BEA-0101-4DD7-9038-5E8EECF34BA0}" dt="2025-03-18T04:10:22.411" v="63" actId="20577"/>
        <pc:sldMkLst>
          <pc:docMk/>
          <pc:sldMk cId="1952689372" sldId="435"/>
        </pc:sldMkLst>
        <pc:spChg chg="mod">
          <ac:chgData name="FAGES LUCIANO RODOLFO" userId="224ab6d9-70b5-4e2a-bfb3-d436487689cf" providerId="ADAL" clId="{5F3A6BEA-0101-4DD7-9038-5E8EECF34BA0}" dt="2025-03-18T04:10:22.411" v="63" actId="20577"/>
          <ac:spMkLst>
            <pc:docMk/>
            <pc:sldMk cId="1952689372" sldId="435"/>
            <ac:spMk id="3" creationId="{04DE30B1-9D6E-66A5-61FA-219AEBA0EB92}"/>
          </ac:spMkLst>
        </pc:spChg>
      </pc:sldChg>
      <pc:sldChg chg="modSp">
        <pc:chgData name="FAGES LUCIANO RODOLFO" userId="224ab6d9-70b5-4e2a-bfb3-d436487689cf" providerId="ADAL" clId="{5F3A6BEA-0101-4DD7-9038-5E8EECF34BA0}" dt="2025-03-18T04:10:33.602" v="65" actId="20577"/>
        <pc:sldMkLst>
          <pc:docMk/>
          <pc:sldMk cId="138995436" sldId="437"/>
        </pc:sldMkLst>
        <pc:spChg chg="mod">
          <ac:chgData name="FAGES LUCIANO RODOLFO" userId="224ab6d9-70b5-4e2a-bfb3-d436487689cf" providerId="ADAL" clId="{5F3A6BEA-0101-4DD7-9038-5E8EECF34BA0}" dt="2025-03-18T04:10:33.602" v="65" actId="20577"/>
          <ac:spMkLst>
            <pc:docMk/>
            <pc:sldMk cId="138995436" sldId="437"/>
            <ac:spMk id="3" creationId="{714D580E-5F50-EFE7-2CE3-3DFD1156A299}"/>
          </ac:spMkLst>
        </pc:spChg>
      </pc:sldChg>
      <pc:sldChg chg="modSp modAnim">
        <pc:chgData name="FAGES LUCIANO RODOLFO" userId="224ab6d9-70b5-4e2a-bfb3-d436487689cf" providerId="ADAL" clId="{5F3A6BEA-0101-4DD7-9038-5E8EECF34BA0}" dt="2025-03-18T04:09:17.235" v="37" actId="20577"/>
        <pc:sldMkLst>
          <pc:docMk/>
          <pc:sldMk cId="3313123240" sldId="446"/>
        </pc:sldMkLst>
        <pc:spChg chg="mod">
          <ac:chgData name="FAGES LUCIANO RODOLFO" userId="224ab6d9-70b5-4e2a-bfb3-d436487689cf" providerId="ADAL" clId="{5F3A6BEA-0101-4DD7-9038-5E8EECF34BA0}" dt="2025-03-18T04:09:17.235" v="37" actId="20577"/>
          <ac:spMkLst>
            <pc:docMk/>
            <pc:sldMk cId="3313123240" sldId="446"/>
            <ac:spMk id="3" creationId="{97069968-752E-CC0D-C8D6-898AE0467B7A}"/>
          </ac:spMkLst>
        </pc:spChg>
      </pc:sldChg>
      <pc:sldChg chg="modSp">
        <pc:chgData name="FAGES LUCIANO RODOLFO" userId="224ab6d9-70b5-4e2a-bfb3-d436487689cf" providerId="ADAL" clId="{5F3A6BEA-0101-4DD7-9038-5E8EECF34BA0}" dt="2025-03-18T04:44:21" v="66" actId="20577"/>
        <pc:sldMkLst>
          <pc:docMk/>
          <pc:sldMk cId="3801504846" sldId="447"/>
        </pc:sldMkLst>
        <pc:spChg chg="mod">
          <ac:chgData name="FAGES LUCIANO RODOLFO" userId="224ab6d9-70b5-4e2a-bfb3-d436487689cf" providerId="ADAL" clId="{5F3A6BEA-0101-4DD7-9038-5E8EECF34BA0}" dt="2025-03-18T04:44:21" v="66" actId="20577"/>
          <ac:spMkLst>
            <pc:docMk/>
            <pc:sldMk cId="3801504846" sldId="447"/>
            <ac:spMk id="3" creationId="{504A6942-6D64-E2E5-8A2F-C576C6E7A3D1}"/>
          </ac:spMkLst>
        </pc:spChg>
      </pc:sldChg>
      <pc:sldChg chg="modSp mod">
        <pc:chgData name="FAGES LUCIANO RODOLFO" userId="224ab6d9-70b5-4e2a-bfb3-d436487689cf" providerId="ADAL" clId="{5F3A6BEA-0101-4DD7-9038-5E8EECF34BA0}" dt="2025-03-18T04:08:54.089" v="32" actId="6549"/>
        <pc:sldMkLst>
          <pc:docMk/>
          <pc:sldMk cId="3297765843" sldId="448"/>
        </pc:sldMkLst>
        <pc:spChg chg="mod">
          <ac:chgData name="FAGES LUCIANO RODOLFO" userId="224ab6d9-70b5-4e2a-bfb3-d436487689cf" providerId="ADAL" clId="{5F3A6BEA-0101-4DD7-9038-5E8EECF34BA0}" dt="2025-03-18T04:08:54.089" v="32" actId="6549"/>
          <ac:spMkLst>
            <pc:docMk/>
            <pc:sldMk cId="3297765843" sldId="448"/>
            <ac:spMk id="3" creationId="{B6E9C343-4168-834D-2BB0-F0519AE30B46}"/>
          </ac:spMkLst>
        </pc:spChg>
      </pc:sldChg>
      <pc:sldChg chg="modSp mod">
        <pc:chgData name="FAGES LUCIANO RODOLFO" userId="224ab6d9-70b5-4e2a-bfb3-d436487689cf" providerId="ADAL" clId="{5F3A6BEA-0101-4DD7-9038-5E8EECF34BA0}" dt="2025-03-18T04:08:07.004" v="27" actId="14100"/>
        <pc:sldMkLst>
          <pc:docMk/>
          <pc:sldMk cId="3635707463" sldId="449"/>
        </pc:sldMkLst>
        <pc:spChg chg="mod">
          <ac:chgData name="FAGES LUCIANO RODOLFO" userId="224ab6d9-70b5-4e2a-bfb3-d436487689cf" providerId="ADAL" clId="{5F3A6BEA-0101-4DD7-9038-5E8EECF34BA0}" dt="2025-03-18T04:08:07.004" v="27" actId="14100"/>
          <ac:spMkLst>
            <pc:docMk/>
            <pc:sldMk cId="3635707463" sldId="449"/>
            <ac:spMk id="2" creationId="{CF6BD7EF-822F-D918-5D0B-F78400B5AB8A}"/>
          </ac:spMkLst>
        </pc:spChg>
      </pc:sldChg>
      <pc:sldChg chg="modSp">
        <pc:chgData name="FAGES LUCIANO RODOLFO" userId="224ab6d9-70b5-4e2a-bfb3-d436487689cf" providerId="ADAL" clId="{5F3A6BEA-0101-4DD7-9038-5E8EECF34BA0}" dt="2025-03-16T23:50:06.843" v="1" actId="20577"/>
        <pc:sldMkLst>
          <pc:docMk/>
          <pc:sldMk cId="1969105729" sldId="456"/>
        </pc:sldMkLst>
        <pc:spChg chg="mod">
          <ac:chgData name="FAGES LUCIANO RODOLFO" userId="224ab6d9-70b5-4e2a-bfb3-d436487689cf" providerId="ADAL" clId="{5F3A6BEA-0101-4DD7-9038-5E8EECF34BA0}" dt="2025-03-16T23:50:06.843" v="1" actId="20577"/>
          <ac:spMkLst>
            <pc:docMk/>
            <pc:sldMk cId="1969105729" sldId="456"/>
            <ac:spMk id="2" creationId="{2089DB7E-D6AA-1013-E2D8-7BD1380DA8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1AB96-E934-4CC9-B8D4-8ED4BF9AEFD6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01A9B-2C4A-4886-BC74-D71E00F0F3E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530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7BD0-C368-4FC8-96DC-F1F56468CF4F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4767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7BD0-C368-4FC8-96DC-F1F56468CF4F}" type="slidenum">
              <a:rPr lang="es-AR" smtClean="0"/>
              <a:t>35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5198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39CB39-DD2B-6CBD-8300-6B10F02F5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BBA115-FC1F-6BAB-5228-E23A42C8D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7696B6-A178-A04E-AD71-79001702E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29700D-D82A-1C5C-E24B-5DB3882B1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0F9C5E-9E0F-F27F-FE1B-9075418B7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316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969B6-A57B-5BFA-D1DA-168D0F80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8283D3-C685-0B78-86C5-AA4EE9602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6B9389-5151-99A4-408C-7B40D593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591E98-3A86-0D82-A202-9CBA76A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C357B9-DC52-3F64-1DD2-28323AB1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8290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FB93-22BE-88F1-5A1C-16D329DA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855CCD-EC7D-66E7-C2E1-AB291AD32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7F3EE7-3933-9CE0-536D-081577478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AD0A8A-2704-68FC-D772-F24DFBB0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34AC7F-BBEC-E77E-29D3-964AB2FC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40187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C7000-E959-4B07-2298-57CEDB918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A88C5A-7F2E-7091-3784-C86AA2985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A053FD-231C-E312-D670-396C3230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AED14A-FF9A-29C9-DD35-EFFF6EED8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61017D-5EB6-DC36-DB70-AA422AD3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072B5B-B65D-BBB3-8FB0-ECC4F2DD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185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AD05D-EA67-1869-90F2-1CF442B7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60163D-B06D-1C3A-133B-497A290D7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938204-E5F0-3B5A-47F7-098301755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C4FB81-A694-D58B-FC66-721E3842A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B214CF-28C8-961F-E800-35787EF69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EE377C-CCC9-C82A-7A34-58754F116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0221F37-6468-B447-9052-C553AE9D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7DCEFD8-8559-E5E3-4B19-D22E3946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2502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BEA03-64A5-76CD-21EF-D9D8392B2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D163B2-C67E-B2CD-4DA4-614552DE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AB474D-D58C-7948-44C5-5B36DA76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1350F7-93B4-00F1-9833-5E868B3E8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7828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3943A05-9860-4BD2-4582-CD4240EDB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B198EFD-3B37-D1A9-7B99-2BB3CDCB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B4CA74-615E-F81A-C29D-99829BE5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053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1C899-DD73-3801-A621-D50F4D636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072286-5A59-A326-B422-7DEFF632B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50651F-A564-F6F7-6424-56B830C60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2EBB92-3ADC-8844-C6D3-2D0755AB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CE96B3-4281-FCE7-5150-60F7C2A28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4ACA49-C01B-0BD6-90EF-7F5D3217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6363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F9DB4-3BC7-78C6-481E-A9D2CF00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A1E51F5-42D4-14F4-B73B-C3BA7E61E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E12495-A458-D59F-3CA4-9DE71F0B6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13ADDC-9DBC-9543-403A-45A07700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89CA6F-6B8F-9663-524E-1D99762F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E79096-3F1C-F467-5BFE-F78AA32A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493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B6A30-EC28-0DBA-2BF2-63C58A19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077692-A092-3A5D-46E5-527BBA754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454A88-954A-CAF3-B0FB-8294EB9E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AB3729-3B0E-A03D-1B51-7603EA3D8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032A75-0BAA-737C-4E25-C8F5C0F2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79562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D51E0E-1421-35F2-F068-BA6DD1B7A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FE5C85-7C2F-8F92-8F6B-1A413DB2E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D87DAA-C73A-5663-D75A-034C8A362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6CD386-AA35-2B65-EA80-2873D779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5B7916-10F5-6BC7-769F-A9B8C1AA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15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05A531D-5658-AC12-7A5B-B273E553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59A3A3-A5BF-44CC-D35C-62943F669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838816-53DB-0508-08E6-FC234BF0C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C9647-37A8-4A2A-B8E6-E0F877A8F8EF}" type="datetimeFigureOut">
              <a:rPr lang="es-AR" smtClean="0"/>
              <a:t>18/3/2025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20210A-8A1C-483B-C1A5-FE22407BD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0624DB-6950-6189-8259-155679567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C78AC-859B-4218-9241-AF38E11CF1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9842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6DFF6F1-50A4-9439-4288-025893A7AD41}"/>
              </a:ext>
            </a:extLst>
          </p:cNvPr>
          <p:cNvSpPr txBox="1"/>
          <p:nvPr/>
        </p:nvSpPr>
        <p:spPr>
          <a:xfrm>
            <a:off x="9768840" y="598932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rgbClr val="000000"/>
                </a:solidFill>
              </a:rPr>
              <a:t>Sugerencias o dudas</a:t>
            </a:r>
            <a:r>
              <a:rPr lang="es-AR">
                <a:solidFill>
                  <a:srgbClr val="000000"/>
                </a:solidFill>
              </a:rPr>
              <a:t>: lfages@uade.edu.ar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7C32E8-DE91-4150-969E-AD535F0F7631}"/>
              </a:ext>
            </a:extLst>
          </p:cNvPr>
          <p:cNvSpPr txBox="1"/>
          <p:nvPr/>
        </p:nvSpPr>
        <p:spPr>
          <a:xfrm>
            <a:off x="856527" y="590309"/>
            <a:ext cx="770873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Si quisiéramos describir el movimiento de una partícula respecto del tiempo</a:t>
            </a:r>
          </a:p>
          <a:p>
            <a:endParaRPr lang="es-AR" sz="3000" dirty="0"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A cada </a:t>
            </a:r>
            <a:r>
              <a:rPr lang="es-AR" sz="3000" b="1" dirty="0">
                <a:latin typeface="Arial Nova" panose="020B0504020202020204" pitchFamily="34" charset="0"/>
                <a:cs typeface="Aharoni" panose="02010803020104030203" pitchFamily="2" charset="-79"/>
              </a:rPr>
              <a:t>instante</a:t>
            </a:r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 t le deberíamos asignar un </a:t>
            </a:r>
            <a:r>
              <a:rPr lang="es-AR" sz="3000" b="1" dirty="0">
                <a:latin typeface="Arial Nova" panose="020B0504020202020204" pitchFamily="34" charset="0"/>
                <a:cs typeface="Aharoni" panose="02010803020104030203" pitchFamily="2" charset="-79"/>
              </a:rPr>
              <a:t>vector</a:t>
            </a:r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 (o punto) que representará la ubicación de la partícula</a:t>
            </a:r>
          </a:p>
          <a:p>
            <a:endParaRPr lang="es-AR" sz="3000" dirty="0"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Así para modelizar esta aplicación física usaremos lo que en matemática se conoce como </a:t>
            </a:r>
          </a:p>
        </p:txBody>
      </p:sp>
    </p:spTree>
    <p:extLst>
      <p:ext uri="{BB962C8B-B14F-4D97-AF65-F5344CB8AC3E}">
        <p14:creationId xmlns:p14="http://schemas.microsoft.com/office/powerpoint/2010/main" val="12530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76E440-CC1E-42C8-8613-B6EA4664F5C9}"/>
              </a:ext>
            </a:extLst>
          </p:cNvPr>
          <p:cNvSpPr txBox="1"/>
          <p:nvPr/>
        </p:nvSpPr>
        <p:spPr>
          <a:xfrm>
            <a:off x="1495762" y="2263151"/>
            <a:ext cx="712751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FUNCIONES </a:t>
            </a:r>
          </a:p>
          <a:p>
            <a:pPr algn="ctr"/>
            <a:endParaRPr lang="es-AR" sz="5000" dirty="0"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VECTORIALES</a:t>
            </a:r>
          </a:p>
          <a:p>
            <a:endParaRPr lang="es-AR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38EAEB-66B4-5BA7-7021-6143D76A6FB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769851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62A709-094D-808A-764D-4BBFA82F85D4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AB700D2-8426-F31F-1EB6-9CB68CEE865D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7755661" cy="4815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…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</a:rPr>
                  <a:t> suele ser un intervalo incluido en R</a:t>
                </a:r>
              </a:p>
              <a:p>
                <a:endParaRPr lang="es-AR" sz="3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AR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</a:rPr>
                  <a:t> son funciones escalares (Cal1)</a:t>
                </a:r>
              </a:p>
              <a:p>
                <a:endParaRPr lang="es-AR" sz="3000" dirty="0"/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Para cada valor del parámetro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</a:rPr>
                  <a:t> se genera un vector de m coordenadas</a:t>
                </a:r>
              </a:p>
              <a:p>
                <a:endParaRPr lang="es-AR" sz="3000" dirty="0"/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AB700D2-8426-F31F-1EB6-9CB68CEE8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7755661" cy="4815421"/>
              </a:xfrm>
              <a:prstGeom prst="rect">
                <a:avLst/>
              </a:prstGeom>
              <a:blipFill>
                <a:blip r:embed="rId2"/>
                <a:stretch>
                  <a:fillRect l="-1807" r="-204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6A349AA7-77FD-836D-11AC-0AF19BDBFF4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655765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5B38D-5699-4599-0536-0B8ED1429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FF07EA-16D0-00F5-5313-354725AD3A80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A2191F0-C5B2-6479-409C-8BADC49E9A64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0259019" cy="5243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Cambria Math" panose="02040503050406030204" pitchFamily="18" charset="0"/>
                  </a:rPr>
                  <a:t>Repaso y ejemplo:</a:t>
                </a:r>
                <a:endParaRPr lang="es-AR" sz="3000" b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4−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AR" sz="3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s-AR" sz="3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sz="3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s-AR" sz="3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+5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+6</m:t>
                          </m:r>
                        </m:den>
                      </m:f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Calculemos el dominio D</a:t>
                </a:r>
              </a:p>
              <a:p>
                <a:endParaRPr lang="es-AR" sz="3000" dirty="0"/>
              </a:p>
              <a:p>
                <a:endParaRPr lang="es-AR" sz="3000" dirty="0"/>
              </a:p>
              <a:p>
                <a:endParaRPr lang="es-AR" sz="3000" dirty="0"/>
              </a:p>
              <a:p>
                <a:endParaRPr lang="es-AR" sz="3000" dirty="0"/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A2191F0-C5B2-6479-409C-8BADC49E9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0259019" cy="5243102"/>
              </a:xfrm>
              <a:prstGeom prst="rect">
                <a:avLst/>
              </a:prstGeom>
              <a:blipFill>
                <a:blip r:embed="rId2"/>
                <a:stretch>
                  <a:fillRect l="-1367" t="-151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657C3FD6-2EB3-A83B-B77D-96EFA62833C8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1740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B3B53-C2B0-B076-DB6D-D1FFBE507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97D4720-765C-946A-5FDC-932036E7B6D1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1DEB171-2D58-6A56-DE32-F528AF4F3868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0259019" cy="5704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Cambria Math" panose="02040503050406030204" pitchFamily="18" charset="0"/>
                  </a:rPr>
                  <a:t>Repaso y ejemplo:</a:t>
                </a:r>
                <a:endParaRPr lang="es-AR" sz="3000" b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4−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AR" sz="3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s-AR" sz="3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sz="3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s-AR" sz="3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+5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+6</m:t>
                          </m:r>
                        </m:den>
                      </m:f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Calculemos el dominio D</a:t>
                </a:r>
              </a:p>
              <a:p>
                <a:endParaRPr lang="es-AR" sz="3000" dirty="0"/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 :4−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≥0 , 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&gt;0 , 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+6≠0}</m:t>
                      </m:r>
                    </m:oMath>
                  </m:oMathPara>
                </a14:m>
                <a:endParaRPr lang="es-AR" sz="3000" dirty="0"/>
              </a:p>
              <a:p>
                <a:endParaRPr lang="es-AR" sz="3000" dirty="0"/>
              </a:p>
              <a:p>
                <a:endParaRPr lang="es-AR" sz="3000" dirty="0"/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1DEB171-2D58-6A56-DE32-F528AF4F3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0259019" cy="5704767"/>
              </a:xfrm>
              <a:prstGeom prst="rect">
                <a:avLst/>
              </a:prstGeom>
              <a:blipFill>
                <a:blip r:embed="rId2"/>
                <a:stretch>
                  <a:fillRect l="-1367" t="-139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A94EC78D-F807-2732-E37C-570E475C30DD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94062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435AE-DB98-6319-DD5E-AEE8E4C14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97F2A74-3565-DDF1-678C-9B62A3966A99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8830123-3730-E582-D7DD-945E146FB7E7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0259019" cy="7089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Cambria Math" panose="02040503050406030204" pitchFamily="18" charset="0"/>
                  </a:rPr>
                  <a:t>Repaso y ejemplo:</a:t>
                </a:r>
                <a:endParaRPr lang="es-AR" sz="3000" b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4−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AR" sz="3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s-AR" sz="3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sz="3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s-AR" sz="3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+5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+6</m:t>
                          </m:r>
                        </m:den>
                      </m:f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Calculemos el dominio D</a:t>
                </a:r>
              </a:p>
              <a:p>
                <a:endParaRPr lang="es-AR" sz="3000" dirty="0"/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 :4−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≥0 , 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&gt;0 , 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+6≠0}</m:t>
                      </m:r>
                    </m:oMath>
                  </m:oMathPara>
                </a14:m>
                <a:endParaRPr lang="es-AR" sz="3000" dirty="0"/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,−1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∪(0,2]</m:t>
                      </m:r>
                    </m:oMath>
                  </m:oMathPara>
                </a14:m>
                <a:endParaRPr lang="es-AR" sz="3000" dirty="0"/>
              </a:p>
              <a:p>
                <a:endParaRPr lang="es-AR" sz="3000" dirty="0"/>
              </a:p>
              <a:p>
                <a:endParaRPr lang="es-AR" sz="3000" dirty="0"/>
              </a:p>
              <a:p>
                <a:endParaRPr lang="es-AR" sz="3000" dirty="0"/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8830123-3730-E582-D7DD-945E146FB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0259019" cy="7089761"/>
              </a:xfrm>
              <a:prstGeom prst="rect">
                <a:avLst/>
              </a:prstGeom>
              <a:blipFill>
                <a:blip r:embed="rId2"/>
                <a:stretch>
                  <a:fillRect l="-1367" t="-111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CE8F5EA7-60D6-87BB-9D13-4A00BE71B6F5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759662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C0778-91BE-4095-2B49-F541A1D8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0F36EB6-E909-AF91-D8BD-6EB3A9622A7D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DBC061D-B766-FD60-7773-F292D6602E19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8984855" cy="5293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Si ahora, en cambio</a:t>
                </a:r>
                <a:r>
                  <a:rPr lang="es-AR" sz="3000" dirty="0">
                    <a:latin typeface="Cambria Math" panose="02040503050406030204" pitchFamily="18" charset="0"/>
                  </a:rPr>
                  <a:t>, definiera</a:t>
                </a:r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4−</m:t>
                              </m:r>
                              <m:sSup>
                                <m:sSupPr>
                                  <m:ctrlP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A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es-AR" sz="3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lit/>
                                </m:rP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unc>
                                <m:funcPr>
                                  <m:ctrlP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AR" sz="3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s-AR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s-AR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s-AR" sz="3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AR" sz="3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s-AR" sz="3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+5</m:t>
                              </m:r>
                              <m: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¿Cuál sería el dominio para este nuevo tipo de función?</a:t>
                </a:r>
              </a:p>
              <a:p>
                <a:endParaRPr lang="es-AR" sz="3000" dirty="0"/>
              </a:p>
              <a:p>
                <a:endParaRPr lang="es-AR" sz="3000" dirty="0"/>
              </a:p>
              <a:p>
                <a:endParaRPr lang="es-AR" sz="3000" dirty="0"/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DBC061D-B766-FD60-7773-F292D6602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8984855" cy="5293950"/>
              </a:xfrm>
              <a:prstGeom prst="rect">
                <a:avLst/>
              </a:prstGeom>
              <a:blipFill>
                <a:blip r:embed="rId2"/>
                <a:stretch>
                  <a:fillRect l="-1560" t="-149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2FDB7323-CF0C-505D-1D80-EB3C917E9E8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00468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C8227-4714-AC1F-D455-DFC7D0D2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34E0E8B-8FAD-189E-710F-AF50EB39F595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AFAEF01-EDA9-468D-37A2-86858BD54D08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8984855" cy="5755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Si ahora, en cambio</a:t>
                </a:r>
                <a:r>
                  <a:rPr lang="es-AR" sz="3000" dirty="0">
                    <a:latin typeface="Cambria Math" panose="02040503050406030204" pitchFamily="18" charset="0"/>
                  </a:rPr>
                  <a:t>, definiera</a:t>
                </a:r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4−</m:t>
                              </m:r>
                              <m:sSup>
                                <m:sSupPr>
                                  <m:ctrlP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A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es-AR" sz="3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lit/>
                                </m:rP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unc>
                                <m:funcPr>
                                  <m:ctrlP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AR" sz="3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s-AR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s-AR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s-AR" sz="3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AR" sz="3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s-AR" sz="3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s-AR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+5</m:t>
                              </m:r>
                              <m: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¿Cuál sería el dominio para este nuevo tipo de función?</a:t>
                </a:r>
              </a:p>
              <a:p>
                <a:endParaRPr lang="es-AR" sz="3000" dirty="0"/>
              </a:p>
              <a:p>
                <a:endParaRPr lang="es-AR" sz="3000" dirty="0"/>
              </a:p>
              <a:p>
                <a:endParaRPr lang="es-AR" sz="3000" dirty="0"/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El mismo! Aunque las funciones son bien distintas, el dominio se calcula de manera similar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AFAEF01-EDA9-468D-37A2-86858BD54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8984855" cy="5755615"/>
              </a:xfrm>
              <a:prstGeom prst="rect">
                <a:avLst/>
              </a:prstGeom>
              <a:blipFill>
                <a:blip r:embed="rId2"/>
                <a:stretch>
                  <a:fillRect l="-1560" t="-1377" r="-1560" b="-233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296F9BEF-9520-C02A-172B-E8EF0FA03F48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515330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17AF-6851-C065-0A17-E0B11141C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5730283-EA8C-53FF-4CDB-2BC465CD95D6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5CAB368-58B0-8E88-BA6B-19C602748FF8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8984855" cy="4815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DOMINIO de F.V</a:t>
                </a: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…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∩…∩</m:t>
                      </m:r>
                      <m:sSub>
                        <m:sSub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r>
                  <a:rPr lang="es-AR" sz="3000" b="1" dirty="0">
                    <a:solidFill>
                      <a:schemeClr val="tx1"/>
                    </a:solidFill>
                  </a:rPr>
                  <a:t>El dominio de una F.V es el resultado de la intersección entre los dominios de todas las funciones componentes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5CAB368-58B0-8E88-BA6B-19C602748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8984855" cy="4815421"/>
              </a:xfrm>
              <a:prstGeom prst="rect">
                <a:avLst/>
              </a:prstGeom>
              <a:blipFill>
                <a:blip r:embed="rId2"/>
                <a:stretch>
                  <a:fillRect l="-1560" t="-1648" b="-304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F1F09C2D-224A-CC24-AC22-E17D06E52822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20972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62A709-094D-808A-764D-4BBFA82F85D4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AB700D2-8426-F31F-1EB6-9CB68CEE865D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5230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DEFINICIÓN</a:t>
                </a:r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de </a:t>
                </a:r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CURVA</a:t>
                </a:r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:</a:t>
                </a: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Es el conjunto imagen de cualquier función vectorial </a:t>
                </a:r>
                <a:r>
                  <a:rPr lang="es-AR" sz="3000" b="1" u="sng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continua</a:t>
                </a:r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y definida en un </a:t>
                </a:r>
                <a:r>
                  <a:rPr lang="es-AR" sz="3000" b="1" u="sng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intervalo real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𝐶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𝐼𝑚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𝝈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Siempre que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𝜎</m:t>
                        </m:r>
                      </m:e>
                    </m:acc>
                  </m:oMath>
                </a14:m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sea continua:</a:t>
                </a:r>
              </a:p>
              <a:p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𝜎</m:t>
                          </m:r>
                        </m:e>
                      </m:acc>
                      <m:r>
                        <a:rPr lang="es-AR" sz="3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</m:e>
                      </m:d>
                      <m:r>
                        <a:rPr lang="es-AR" sz="3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→</m:t>
                      </m:r>
                      <m:sSup>
                        <m:sSupPr>
                          <m:ctrlP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𝑚</m:t>
                          </m:r>
                        </m:sup>
                      </m:sSup>
                      <m:r>
                        <a:rPr lang="es-AR" sz="3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accPr>
                        <m:e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𝜎</m:t>
                          </m:r>
                        </m:e>
                      </m:acc>
                      <m:d>
                        <m:dPr>
                          <m:ctrlP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𝑡</m:t>
                          </m:r>
                        </m:e>
                      </m:d>
                      <m:r>
                        <a:rPr lang="es-AR" sz="3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d>
                        <m:dPr>
                          <m:ctrlP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  <m:d>
                            <m:dPr>
                              <m:ctrlPr>
                                <a:rPr lang="es-AR" sz="3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 </m:t>
                          </m:r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  <m:d>
                            <m:dPr>
                              <m:ctrlPr>
                                <a:rPr lang="es-AR" sz="3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𝑧</m:t>
                          </m:r>
                          <m:d>
                            <m:dPr>
                              <m:ctrlPr>
                                <a:rPr lang="es-AR" sz="3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sz="3000" dirty="0"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r>
                  <a:rPr lang="es-AR" sz="3000" dirty="0">
                    <a:latin typeface="Aharoni" panose="02010803020104030203" pitchFamily="2" charset="-79"/>
                    <a:cs typeface="Aharoni" panose="02010803020104030203" pitchFamily="2" charset="-79"/>
                  </a:rPr>
                  <a:t>Con todas sus componentes continuas en el intervalo</a:t>
                </a:r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AB700D2-8426-F31F-1EB6-9CB68CEE8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5230086"/>
              </a:xfrm>
              <a:prstGeom prst="rect">
                <a:avLst/>
              </a:prstGeom>
              <a:blipFill>
                <a:blip r:embed="rId2"/>
                <a:stretch>
                  <a:fillRect l="-1322" t="-1517" r="-771" b="-268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DD71943D-4332-B7CD-D6D1-DD0D58B6D889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055639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D5982-6E0C-5A9D-4C96-7226836E0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EE760C9-4FEA-49FE-5922-D665BA6FBE19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2A57461-A26B-DE3A-604B-5602BE80C11D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5660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DEFINICIÓN</a:t>
                </a:r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de </a:t>
                </a:r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CURVA</a:t>
                </a:r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:</a:t>
                </a: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Así queda definida una CURVA con puntos extremos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𝜎</m:t>
                        </m:r>
                      </m:e>
                    </m:acc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(</m:t>
                    </m:r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𝑎</m:t>
                    </m:r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)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𝜎</m:t>
                        </m:r>
                      </m:e>
                    </m:acc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(</m:t>
                    </m:r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𝑏</m:t>
                    </m:r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)</m:t>
                    </m:r>
                  </m:oMath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s-AR" sz="3000" dirty="0">
                    <a:solidFill>
                      <a:schemeClr val="tx1"/>
                    </a:solidFill>
                  </a:rPr>
                  <a:t>Origen: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AR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P</m:t>
                        </m:r>
                      </m:e>
                      <m:sub>
                        <m:r>
                          <a:rPr lang="es-AR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0</m:t>
                        </m:r>
                      </m:sub>
                    </m:sSub>
                    <m:r>
                      <a:rPr lang="es-AR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𝜎</m:t>
                        </m:r>
                      </m:e>
                    </m:acc>
                    <m:d>
                      <m:dPr>
                        <m:ctrlP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𝑎</m:t>
                        </m:r>
                      </m:e>
                    </m:d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d>
                      <m:dPr>
                        <m:ctrlP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  <m:d>
                          <m:dPr>
                            <m:ctrlP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𝑎</m:t>
                            </m:r>
                          </m:e>
                        </m:d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𝑦</m:t>
                        </m:r>
                        <m:d>
                          <m:dPr>
                            <m:ctrlP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s-AR" sz="3000" dirty="0">
                    <a:solidFill>
                      <a:schemeClr val="tx1"/>
                    </a:solidFill>
                  </a:rPr>
                  <a:t>Final: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2A57461-A26B-DE3A-604B-5602BE80C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5660524"/>
              </a:xfrm>
              <a:prstGeom prst="rect">
                <a:avLst/>
              </a:prstGeom>
              <a:blipFill>
                <a:blip r:embed="rId2"/>
                <a:stretch>
                  <a:fillRect l="-1322" t="-140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509954F5-10B2-A6AE-2A89-06B3F0916A62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912171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5FE6552-EFB6-C6AC-9DFB-6FCC64714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75102"/>
            <a:ext cx="7047923" cy="530356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FD7D8A5-C49A-8543-7483-4E5B2DB12C5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876507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DA6DE-289A-40DE-E3C6-E1ACF6DD4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0B5622A-51BC-A5A9-A376-9868EB815FDE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E4B8686-54D3-C1F0-9A62-CC0A67C58369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4985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IMAGEN DE UNA F.V: -DESPARAMETRIZACIÓN DE CURVAS-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r>
                  <a:rPr lang="es-AR" sz="3000" dirty="0"/>
                  <a:t>Obtener la ecuación cartesiana para graficar el conjunto imagen de cada una de las siguientes F.V</a:t>
                </a:r>
              </a:p>
              <a:p>
                <a:endParaRPr lang="es-AR" sz="3000" dirty="0"/>
              </a:p>
              <a:p>
                <a:r>
                  <a:rPr lang="es-AR" sz="3000" dirty="0">
                    <a:solidFill>
                      <a:srgbClr val="FF0000"/>
                    </a:solidFill>
                  </a:rPr>
                  <a:t>Es muy útil, si es que existen, hallar los puntos extremos.</a:t>
                </a: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AR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E4B8686-54D3-C1F0-9A62-CC0A67C58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4985980"/>
              </a:xfrm>
              <a:prstGeom prst="rect">
                <a:avLst/>
              </a:prstGeom>
              <a:blipFill>
                <a:blip r:embed="rId2"/>
                <a:stretch>
                  <a:fillRect l="-1322" t="-159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66801A1F-4F25-AC8B-7A65-2C07A91C2E78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455947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4485-C05A-5A96-ACEA-79A5229CD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7359CA9-AA7D-96FA-0747-C87F394782F3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F462871-4B26-D37D-3C90-C1BD35EEF450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Ejemplo 2: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r>
                  <a:rPr lang="es-AR" sz="3000" dirty="0"/>
                  <a:t>Obtener la ecuación cartesiana para graficar el conjunto imagen de cada una de las siguientes F.V</a:t>
                </a: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−2,1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AR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F462871-4B26-D37D-3C90-C1BD35EEF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blipFill>
                <a:blip r:embed="rId2"/>
                <a:stretch>
                  <a:fillRect l="-1322" t="-190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BE519046-89F2-C0C5-A92C-1C32275EB236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868321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3B338-A0D8-EA7F-01AC-7507C75D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15C3DD8-1F77-8AD2-FDA3-CAD291C6EDA7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B140D9E-99CA-427D-C4FD-777AE0DEF9E6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Ejemplo 3: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r>
                  <a:rPr lang="es-AR" sz="3000" dirty="0"/>
                  <a:t>Obtener la ecuación cartesiana para graficar el conjunto imagen de cada una de las siguientes F.V</a:t>
                </a: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−2,1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AR" sz="3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B140D9E-99CA-427D-C4FD-777AE0DEF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blipFill>
                <a:blip r:embed="rId2"/>
                <a:stretch>
                  <a:fillRect l="-1322" t="-190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EE0EFB39-08EB-37BC-4ADF-CAA59206EB1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954419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3DDE7-F57A-C654-8E6E-F26EEBC4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B69445D-0E36-7991-1A2C-DF9FBE4C280B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51B4983-A2FC-F002-D9F2-FAD5C1C1C72C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Ejemplo 4: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r>
                  <a:rPr lang="es-AR" sz="3000" dirty="0"/>
                  <a:t>Obtener la ecuación cartesiana para graficar el conjunto imagen de cada una de las siguientes F.V</a:t>
                </a: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AR" sz="3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51B4983-A2FC-F002-D9F2-FAD5C1C1C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blipFill>
                <a:blip r:embed="rId2"/>
                <a:stretch>
                  <a:fillRect l="-1322" t="-190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8FD997FA-BBF0-A1B9-FC98-B502E02A0B2D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424506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08CF-8F0D-674A-56EF-DDC4AAF65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93BE87B-C8D7-5258-D386-4511194C7E8C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5097431-6DDA-F434-2A53-89A0F4C60AFD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Ejemplo 5: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r>
                  <a:rPr lang="es-AR" sz="3000" dirty="0"/>
                  <a:t>Obtener la ecuación cartesiana para graficar el conjunto imagen de cada una de las siguientes F.V</a:t>
                </a: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0,4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AR" sz="3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acc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ad>
                            <m:radPr>
                              <m:degHide m:val="on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ra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5097431-6DDA-F434-2A53-89A0F4C60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blipFill>
                <a:blip r:embed="rId2"/>
                <a:stretch>
                  <a:fillRect l="-1322" t="-190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E0E33F1E-3E0D-35A6-572E-3EE58116072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235464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C5C2A-0FBB-8B93-A335-A27C30F5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2C3CBC-4920-385A-73E5-2D2BBAC3D9DF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93BF179-B673-4263-AE07-DE010662791E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Qué relación hay entre los conjuntos imágenes de las funciones vectoriales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𝜎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4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  <m:r>
                      <a:rPr lang="es-AR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;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𝜎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5</m:t>
                        </m:r>
                      </m:sub>
                    </m:sSub>
                  </m:oMath>
                </a14:m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93BF179-B673-4263-AE07-DE0106627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1754326"/>
              </a:xfrm>
              <a:prstGeom prst="rect">
                <a:avLst/>
              </a:prstGeom>
              <a:blipFill>
                <a:blip r:embed="rId2"/>
                <a:stretch>
                  <a:fillRect l="-1322" t="-453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51487E20-D23C-74AA-6BA2-64233535083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335632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B52E6-DA97-A97B-1EA7-530D032A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D750C76-AEE5-905E-586A-2BC1F0223A62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EBDC0E7-207F-B404-3CE9-2C3982B4587D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Ejemplo 6: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r>
                  <a:rPr lang="es-AR" sz="3000" dirty="0"/>
                  <a:t>Obtener la ecuación cartesiana para graficar el conjunto imagen de cada una de las siguientes F.V</a:t>
                </a: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−1,1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+1,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+1 </m:t>
                          </m:r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EBDC0E7-207F-B404-3CE9-2C3982B45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blipFill>
                <a:blip r:embed="rId2"/>
                <a:stretch>
                  <a:fillRect l="-1322" t="-190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BE2A3530-506D-A640-2464-48EF3C14792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768840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EB11D-8802-ABE7-6467-7E7F6F6C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ACC2A2C-5CF4-D501-744B-EFFA3A0AE18A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F6EC55F-39B1-87F8-322C-6E2EFBEEE0B4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Ejemplo 7: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r>
                  <a:rPr lang="es-AR" sz="3000" dirty="0"/>
                  <a:t>Obtener la ecuación cartesiana para graficar el conjunto imagen de cada una de las siguientes F.V</a:t>
                </a: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−2,0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+1 </m:t>
                          </m:r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F6EC55F-39B1-87F8-322C-6E2EFBEEE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4169090"/>
              </a:xfrm>
              <a:prstGeom prst="rect">
                <a:avLst/>
              </a:prstGeom>
              <a:blipFill>
                <a:blip r:embed="rId2"/>
                <a:stretch>
                  <a:fillRect l="-1322" t="-190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6916F1AC-A124-E940-9515-2E0EAF9AA392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147734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D378-770C-93F3-DB2B-17C36537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8AB3688-0E5B-646C-5F37-608BE17500E9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812A803-B835-B2FC-201A-948261AE160A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5968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IMAGEN DE UNA F.V: -DESPARAMETRIZACIÓN DE CURVAS-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RECORDEMOS</a:t>
                </a:r>
              </a:p>
              <a:p>
                <a:pPr algn="ctr"/>
                <a:endParaRPr lang="es-AR" sz="3000" dirty="0"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haroni" panose="02010803020104030203" pitchFamily="2" charset="-79"/>
                    <a:cs typeface="Aharoni" panose="02010803020104030203" pitchFamily="2" charset="-79"/>
                  </a:rPr>
                  <a:t>A todo un punto en coordenadas cartesianas </a:t>
                </a: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haroni" panose="02010803020104030203" pitchFamily="2" charset="-79"/>
                    <a:cs typeface="Aharoni" panose="02010803020104030203" pitchFamily="2" charset="-79"/>
                  </a:rPr>
                  <a:t>Lo podemos expresar usando coordenadas polares</a:t>
                </a: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𝑟𝑐𝑜𝑠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𝑟𝑠𝑒𝑛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812A803-B835-B2FC-201A-948261AE1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5968750"/>
              </a:xfrm>
              <a:prstGeom prst="rect">
                <a:avLst/>
              </a:prstGeom>
              <a:blipFill>
                <a:blip r:embed="rId2"/>
                <a:stretch>
                  <a:fillRect l="-1322" t="-132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180DB3E4-1A15-2DDC-5A22-0ACFDEE517C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4173650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EEF0-110D-BA19-0A0E-4B296F43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A0003F-90B5-2473-D805-2CC6EA8843FA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005EFE4-B410-D507-409B-628C237205DE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6902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IMAGEN DE UNA F.V: -DESPARAMETRIZACIÓN DE CURVAS-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Si además tenemos en cuenta que:</a:t>
                </a:r>
              </a:p>
              <a:p>
                <a:pPr algn="ctr"/>
                <a:endParaRPr lang="es-AR" sz="3000" dirty="0"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AR" sz="3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+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𝑠𝑒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=1</m:t>
                          </m:r>
                        </m:e>
                      </m:func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haroni" panose="02010803020104030203" pitchFamily="2" charset="-79"/>
                    <a:cs typeface="Aharoni" panose="02010803020104030203" pitchFamily="2" charset="-79"/>
                  </a:rPr>
                  <a:t>Entonces: ¿Cuál sería la ecuación cartesiana de la curva imagen de la siguiente F.V?</a:t>
                </a: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),2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𝑠𝑒𝑛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005EFE4-B410-D507-409B-628C23720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6902082"/>
              </a:xfrm>
              <a:prstGeom prst="rect">
                <a:avLst/>
              </a:prstGeom>
              <a:blipFill>
                <a:blip r:embed="rId2"/>
                <a:stretch>
                  <a:fillRect l="-1322" t="-114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9C7E58FD-B534-FAFB-D826-4E9388080000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721511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1C6F8-1DA9-84E1-A179-0C8D98D8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17BF62D-4020-B18A-74FE-FEF996F42525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245F178-81D9-62F4-AC2D-1DB39CB16045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3208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/>
                  <a:t>COORDENADAS POLARES</a:t>
                </a: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s-AR" sz="3000" dirty="0"/>
                  <a:t>Ejemplo 1:</a:t>
                </a:r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),2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𝑠𝑒𝑛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245F178-81D9-62F4-AC2D-1DB39CB16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3208764"/>
              </a:xfrm>
              <a:prstGeom prst="rect">
                <a:avLst/>
              </a:prstGeom>
              <a:blipFill>
                <a:blip r:embed="rId2"/>
                <a:stretch>
                  <a:fillRect t="-22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B7F0BF0C-E08D-9B95-0436-CEDAD7DD271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482205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1FBA-4BDA-E95E-5BF2-00B8C950C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65BCE1-BD6A-0168-66EF-5F42AB36AFB6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4DE30B1-9D6E-66A5-61FA-219AEBA0EB92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3462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/>
                  <a:t>COORDENADAS POLARES</a:t>
                </a: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s-AR" sz="3000" dirty="0"/>
                  <a:t>Ejemplo 2:</a:t>
                </a:r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),2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𝑠𝑒𝑛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4DE30B1-9D6E-66A5-61FA-219AEBA0E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3462166"/>
              </a:xfrm>
              <a:prstGeom prst="rect">
                <a:avLst/>
              </a:prstGeom>
              <a:blipFill>
                <a:blip r:embed="rId2"/>
                <a:stretch>
                  <a:fillRect t="-21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7AFA5412-126A-2D2F-55CD-F5825E03FC7E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952689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A302-8813-30A0-ADD0-990D16FEE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ED2945D-46E0-9416-6ACA-2D2722EC5C34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14D580E-5F50-EFE7-2CE3-3DFD1156A299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3208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/>
                  <a:t>COORDENADAS POLARES</a:t>
                </a: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s-AR" sz="3000" dirty="0"/>
                  <a:t>Ejemplo 3:</a:t>
                </a:r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),3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𝑠𝑒𝑛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14D580E-5F50-EFE7-2CE3-3DFD1156A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3208764"/>
              </a:xfrm>
              <a:prstGeom prst="rect">
                <a:avLst/>
              </a:prstGeom>
              <a:blipFill>
                <a:blip r:embed="rId2"/>
                <a:stretch>
                  <a:fillRect t="-22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1D060515-17F2-206F-7018-10CE15709125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38995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62A709-094D-808A-764D-4BBFA82F85D4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B700D2-8426-F31F-1EB6-9CB68CEE865D}"/>
              </a:ext>
            </a:extLst>
          </p:cNvPr>
          <p:cNvSpPr txBox="1"/>
          <p:nvPr/>
        </p:nvSpPr>
        <p:spPr>
          <a:xfrm>
            <a:off x="563879" y="502920"/>
            <a:ext cx="859668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tx1"/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CON</a:t>
            </a:r>
            <a:r>
              <a:rPr lang="es-AR" sz="3000" b="1" dirty="0">
                <a:latin typeface="Arial Nova" panose="020B0504020202020204" pitchFamily="34" charset="0"/>
                <a:cs typeface="Aharoni" panose="02010803020104030203" pitchFamily="2" charset="-79"/>
              </a:rPr>
              <a:t>CLUSIÓN GENERAL</a:t>
            </a:r>
          </a:p>
          <a:p>
            <a:pPr algn="ctr"/>
            <a:endParaRPr lang="es-AR" sz="3000" b="1" dirty="0">
              <a:solidFill>
                <a:schemeClr val="tx1"/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Para establecer correctamente la ecuación de la curva imagen de una F.V debo deducir correctamente</a:t>
            </a:r>
          </a:p>
          <a:p>
            <a:pPr algn="ctr"/>
            <a:endParaRPr lang="es-AR" sz="3000" dirty="0">
              <a:solidFill>
                <a:schemeClr val="tx1"/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Ecuación cartesiana</a:t>
            </a:r>
          </a:p>
          <a:p>
            <a:pPr marL="457200" indent="-457200" algn="ctr">
              <a:buFont typeface="Wingdings" panose="05000000000000000000" pitchFamily="2" charset="2"/>
              <a:buChar char="Ø"/>
            </a:pPr>
            <a:endParaRPr lang="es-AR" sz="3000" dirty="0"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Saber si es necesario acotar las variables</a:t>
            </a:r>
          </a:p>
          <a:p>
            <a:pPr marL="457200" indent="-457200" algn="ctr">
              <a:buFont typeface="Wingdings" panose="05000000000000000000" pitchFamily="2" charset="2"/>
              <a:buChar char="Ø"/>
            </a:pPr>
            <a:endParaRPr lang="es-AR" sz="3000" dirty="0"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s-AR" sz="3000" dirty="0">
                <a:solidFill>
                  <a:schemeClr val="tx1"/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Establecer correctamente dichas restricciones </a:t>
            </a:r>
          </a:p>
          <a:p>
            <a:pPr algn="ctr"/>
            <a:endParaRPr lang="es-AR" dirty="0">
              <a:solidFill>
                <a:schemeClr val="tx1"/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A8FC5F-E4AB-5B46-89C9-EB892D358636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044291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9032B-E004-C9CA-E483-50FF2582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5AF182-8C89-76B3-5252-9E7A1FEB0E12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D342F98-65CD-4F9F-2351-E63A0363609C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4985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/>
                  <a:t>PARAMETRIZACIÓN DE CURVAS</a:t>
                </a:r>
              </a:p>
              <a:p>
                <a:pPr algn="ctr"/>
                <a:endParaRPr lang="es-AR" sz="3000" b="1" dirty="0"/>
              </a:p>
              <a:p>
                <a:pPr algn="ctr"/>
                <a:r>
                  <a:rPr lang="es-AR" sz="3000" b="1" dirty="0"/>
                  <a:t>Para cada curva establecer alguna F.V que la tenga como conjunto imagen</a:t>
                </a: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s-AR" sz="3000" dirty="0"/>
                  <a:t>Ejemplo 1:</a:t>
                </a:r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D342F98-65CD-4F9F-2351-E63A03636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4985980"/>
              </a:xfrm>
              <a:prstGeom prst="rect">
                <a:avLst/>
              </a:prstGeom>
              <a:blipFill>
                <a:blip r:embed="rId2"/>
                <a:stretch>
                  <a:fillRect t="-146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FD8B71A4-34F7-96E5-6568-41FEEC749CC2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452744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DB68-03DF-B698-948B-FF7F48EB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D58BCDC-A87A-1AD8-5C52-8B219EA59FBB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3CB5834-3A96-2530-E7D2-7C16F409DB17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4985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/>
                  <a:t>PARAMETRIZACIÓN DE CURVAS</a:t>
                </a:r>
              </a:p>
              <a:p>
                <a:pPr algn="ctr"/>
                <a:endParaRPr lang="es-AR" sz="3000" b="1" dirty="0"/>
              </a:p>
              <a:p>
                <a:pPr algn="ctr"/>
                <a:r>
                  <a:rPr lang="es-AR" sz="3000" b="1" dirty="0"/>
                  <a:t>Para cada curva establecer alguna F.V que la tenga como conjunto imagen</a:t>
                </a: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s-AR" sz="3000" dirty="0"/>
                  <a:t>Ejemplo 2:</a:t>
                </a:r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9,</m:t>
                      </m:r>
                      <m:r>
                        <a:rPr lang="es-AR" sz="3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AR" sz="3000" i="1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3CB5834-3A96-2530-E7D2-7C16F409D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4985980"/>
              </a:xfrm>
              <a:prstGeom prst="rect">
                <a:avLst/>
              </a:prstGeom>
              <a:blipFill>
                <a:blip r:embed="rId2"/>
                <a:stretch>
                  <a:fillRect t="-146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2351D437-7CB6-4348-55D3-856B6C6044B9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420415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59C99-E05A-11F9-BE9F-89D757EB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3FE4E54-F2BE-2170-D541-C57A93AF2B12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A93FC5B-E787-5B97-5CAA-1E62DA9A822F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4985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/>
                  <a:t>PARAMETRIZACIÓN DE CURVAS</a:t>
                </a:r>
              </a:p>
              <a:p>
                <a:pPr algn="ctr"/>
                <a:endParaRPr lang="es-AR" sz="3000" b="1" dirty="0"/>
              </a:p>
              <a:p>
                <a:pPr algn="ctr"/>
                <a:r>
                  <a:rPr lang="es-AR" sz="3000" b="1" dirty="0"/>
                  <a:t>Para cada curva establecer alguna F.V que la tenga como conjunto imagen</a:t>
                </a: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s-AR" sz="3000" dirty="0"/>
                  <a:t>Ejemplo 3:</a:t>
                </a:r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AR" sz="3000" i="1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A93FC5B-E787-5B97-5CAA-1E62DA9A8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4985980"/>
              </a:xfrm>
              <a:prstGeom prst="rect">
                <a:avLst/>
              </a:prstGeom>
              <a:blipFill>
                <a:blip r:embed="rId2"/>
                <a:stretch>
                  <a:fillRect t="-146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519DC768-C7D7-24D6-3450-A6FDB5EE7F1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094578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4E40C-B1D7-B14D-D624-7D641452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99F3274-8FB0-8222-CB20-B16B3AAA9FAD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AA622FE-32AD-6D26-108D-2987286BA884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4985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/>
                  <a:t>PARAMETRIZACIÓN DE CURVAS</a:t>
                </a:r>
              </a:p>
              <a:p>
                <a:pPr algn="ctr"/>
                <a:endParaRPr lang="es-AR" sz="3000" b="1" dirty="0"/>
              </a:p>
              <a:p>
                <a:pPr algn="ctr"/>
                <a:r>
                  <a:rPr lang="es-AR" sz="3000" b="1" dirty="0"/>
                  <a:t>Para cada curva establecer alguna F.V que la tenga como conjunto imagen</a:t>
                </a: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s-AR" sz="3000" dirty="0"/>
                  <a:t>Ejemplo 4:</a:t>
                </a:r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sz="3000" i="1">
                        <a:latin typeface="Cambria Math" panose="02040503050406030204" pitchFamily="18" charset="0"/>
                      </a:rPr>
                      <m:t>≥0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AA622FE-32AD-6D26-108D-2987286BA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4985980"/>
              </a:xfrm>
              <a:prstGeom prst="rect">
                <a:avLst/>
              </a:prstGeom>
              <a:blipFill>
                <a:blip r:embed="rId2"/>
                <a:stretch>
                  <a:fillRect t="-146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9FEFF7A5-0A3C-1C56-218C-AC3DFA070DF3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458258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74EE5-DD73-1936-4E5E-CA67871F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C10248B-217F-1448-DF9D-693DBEFA528C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4081F53-0BE2-3D42-C874-3F55D44A16C3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1064240" cy="5056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/>
                  <a:t>PARAMETRIZACIÓN DE CURVAS</a:t>
                </a:r>
              </a:p>
              <a:p>
                <a:pPr algn="ctr"/>
                <a:endParaRPr lang="es-AR" sz="3000" b="1" dirty="0"/>
              </a:p>
              <a:p>
                <a:pPr algn="ctr"/>
                <a:r>
                  <a:rPr lang="es-AR" sz="3000" b="1" dirty="0"/>
                  <a:t>Para cada curva establecer alguna F.V que la tenga como conjunto imagen</a:t>
                </a:r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s-AR" sz="3000" dirty="0"/>
                  <a:t>Ejemplo 5:</a:t>
                </a:r>
                <a:endParaRPr lang="es-AR" sz="3000" dirty="0">
                  <a:solidFill>
                    <a:schemeClr val="tx1"/>
                  </a:solidFill>
                </a:endParaRPr>
              </a:p>
              <a:p>
                <a:pPr algn="ctr"/>
                <a:endParaRPr lang="es-AR" sz="3000" dirty="0"/>
              </a:p>
              <a:p>
                <a:pPr algn="ctr"/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+1=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,−1≤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≤8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s-A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4081F53-0BE2-3D42-C874-3F55D44A1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1064240" cy="5056577"/>
              </a:xfrm>
              <a:prstGeom prst="rect">
                <a:avLst/>
              </a:prstGeom>
              <a:blipFill>
                <a:blip r:embed="rId2"/>
                <a:stretch>
                  <a:fillRect t="-144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606BE557-DC80-E5DE-5A90-0561FAC586F8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892298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26779-C655-03C2-4086-E3CB2AE4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A687E03-4BF2-B7BA-F817-61DF90078298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E01F0F-82D1-BBBA-3E3D-CA51DED2205F}"/>
              </a:ext>
            </a:extLst>
          </p:cNvPr>
          <p:cNvSpPr txBox="1"/>
          <p:nvPr/>
        </p:nvSpPr>
        <p:spPr>
          <a:xfrm>
            <a:off x="563879" y="502920"/>
            <a:ext cx="106637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latin typeface="Arial Nova" panose="020B0504020202020204" pitchFamily="34" charset="0"/>
                <a:cs typeface="Aharoni" panose="02010803020104030203" pitchFamily="2" charset="-79"/>
              </a:rPr>
              <a:t>PARAMETRIZACIÓN DE CURVAS</a:t>
            </a:r>
          </a:p>
          <a:p>
            <a:pPr algn="ctr"/>
            <a:endParaRPr lang="es-AR" sz="3000" b="1" dirty="0">
              <a:solidFill>
                <a:schemeClr val="tx1"/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Para establecer correctamente una F.V que tenga como imagen a la curva deseada debo proponer adecuadamente:</a:t>
            </a:r>
          </a:p>
          <a:p>
            <a:pPr algn="ctr"/>
            <a:endParaRPr lang="es-AR" sz="3000" dirty="0">
              <a:solidFill>
                <a:schemeClr val="tx1"/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Dominio</a:t>
            </a:r>
          </a:p>
          <a:p>
            <a:pPr marL="457200" indent="-457200" algn="ctr">
              <a:buFont typeface="Wingdings" panose="05000000000000000000" pitchFamily="2" charset="2"/>
              <a:buChar char="Ø"/>
            </a:pPr>
            <a:endParaRPr lang="es-AR" sz="3000" dirty="0"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Expresión analítica</a:t>
            </a:r>
          </a:p>
          <a:p>
            <a:pPr marL="457200" indent="-457200" algn="ctr">
              <a:buFont typeface="Wingdings" panose="05000000000000000000" pitchFamily="2" charset="2"/>
              <a:buChar char="Ø"/>
            </a:pPr>
            <a:endParaRPr lang="es-AR" sz="3000" dirty="0"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marL="457200" indent="-457200" algn="ctr">
              <a:buFont typeface="Wingdings" panose="05000000000000000000" pitchFamily="2" charset="2"/>
              <a:buChar char="Ø"/>
            </a:pPr>
            <a:endParaRPr lang="es-AR" sz="3000" dirty="0"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3000" b="1" dirty="0">
                <a:latin typeface="Arial Nova" panose="020B0504020202020204" pitchFamily="34" charset="0"/>
                <a:cs typeface="Aharoni" panose="02010803020104030203" pitchFamily="2" charset="-79"/>
              </a:rPr>
              <a:t>ACLARACIÓN</a:t>
            </a:r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: Dada una curva o arco de curva existen infinitas F.V que la tienen como imagen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129D76-D072-11D7-51AF-785EBD62637E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10517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1B6D5-2C1D-3724-FB84-716187D2D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F5E3F43-6870-6775-1696-D48484944005}"/>
              </a:ext>
            </a:extLst>
          </p:cNvPr>
          <p:cNvSpPr txBox="1"/>
          <p:nvPr/>
        </p:nvSpPr>
        <p:spPr>
          <a:xfrm>
            <a:off x="1495761" y="2263151"/>
            <a:ext cx="7918061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DERIVACIÓN DE</a:t>
            </a:r>
          </a:p>
          <a:p>
            <a:pPr algn="ctr"/>
            <a:endParaRPr lang="es-AR" sz="5000" dirty="0"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FUNCIONES VECTORIALES</a:t>
            </a:r>
          </a:p>
          <a:p>
            <a:endParaRPr lang="es-AR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C86412-D494-8251-6A5F-E3031017B90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428776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1CCAA-43B7-C0FA-B602-BB8045C0E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7A5B455-D0B8-FFAE-2B85-FBB08A0C484A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7069968-752E-CC0D-C8D6-898AE0467B7A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0663754" cy="5383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DERIVABILIDAD DE F.V</a:t>
                </a:r>
              </a:p>
              <a:p>
                <a:pPr algn="ctr"/>
                <a:endParaRPr lang="es-AR" sz="3000" b="1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AR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…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′</m:t>
                      </m:r>
                      <m:d>
                        <m:dPr>
                          <m:ctrlPr>
                            <a:rPr lang="es-AR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…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Su derivada se consigue derivando sus componentes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7069968-752E-CC0D-C8D6-898AE0467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0663754" cy="5383525"/>
              </a:xfrm>
              <a:prstGeom prst="rect">
                <a:avLst/>
              </a:prstGeom>
              <a:blipFill>
                <a:blip r:embed="rId2"/>
                <a:stretch>
                  <a:fillRect l="-1314" t="-1472" b="-24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07366B5A-2115-2CD7-7668-789438E0944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48AFCF34-9BF5-4986-E7CD-487BAE95D629}"/>
              </a:ext>
            </a:extLst>
          </p:cNvPr>
          <p:cNvSpPr/>
          <p:nvPr/>
        </p:nvSpPr>
        <p:spPr>
          <a:xfrm>
            <a:off x="5626309" y="2334718"/>
            <a:ext cx="434714" cy="9781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1312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5CE6-3F7F-0853-EDDB-980B671EF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FEEFFF-1970-9C13-E0D9-A45264F0AB7B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04A6942-6D64-E2E5-8A2F-C576C6E7A3D1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0663754" cy="4938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DERIVABILIDAD DE F.V</a:t>
                </a:r>
              </a:p>
              <a:p>
                <a:pPr algn="ctr"/>
                <a:endParaRPr lang="es-AR" sz="3000" b="1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14:m>
                  <m:oMath xmlns:m="http://schemas.openxmlformats.org/officeDocument/2006/math">
                    <m:r>
                      <a:rPr lang="es-AR" sz="3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𝐄𝐉𝐄𝐌𝐏𝐋𝐎</m:t>
                    </m:r>
                    <m:r>
                      <a:rPr lang="es-AR" sz="3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</a:t>
                </a:r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Obtener el dominio y la expresión analítica de la  función derivada de,</a:t>
                </a: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i="1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accPr>
                        <m:e>
                          <m:r>
                            <a:rPr lang="es-AR" sz="3000" i="1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𝜎</m:t>
                          </m:r>
                        </m:e>
                      </m:acc>
                      <m:r>
                        <a:rPr lang="es-AR" sz="3000" i="1" dirty="0"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:</m:t>
                      </m:r>
                      <m:r>
                        <a:rPr lang="es-AR" sz="3000" b="0" i="1" dirty="0" smtClean="0"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𝐷</m:t>
                      </m:r>
                      <m:r>
                        <a:rPr lang="es-AR" sz="3000" i="1" dirty="0"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→</m:t>
                      </m:r>
                      <m:sSup>
                        <m:sSupPr>
                          <m:ctrlPr>
                            <a:rPr lang="es-AR" sz="3000" i="1" dirty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i="1" dirty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3</m:t>
                          </m:r>
                        </m:sup>
                      </m:sSup>
                      <m:r>
                        <a:rPr lang="es-AR" sz="3000" i="1" dirty="0"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:</m:t>
                      </m:r>
                      <m:acc>
                        <m:accPr>
                          <m:chr m:val="⃗"/>
                          <m:ctrlPr>
                            <a:rPr lang="es-AR" sz="3000" i="1" dirty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accPr>
                        <m:e>
                          <m:r>
                            <a:rPr lang="es-AR" sz="3000" i="1" dirty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𝜎</m:t>
                          </m:r>
                        </m:e>
                      </m:acc>
                      <m:d>
                        <m:dPr>
                          <m:ctrlPr>
                            <a:rPr lang="es-AR" sz="3000" i="1" dirty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i="1" dirty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𝑡</m:t>
                          </m:r>
                        </m:e>
                      </m:d>
                      <m:r>
                        <a:rPr lang="es-AR" sz="3000" i="1" dirty="0"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d>
                        <m:dPr>
                          <m:ctrlPr>
                            <a:rPr lang="es-AR" sz="3000" i="1" dirty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</m:sup>
                          </m:sSup>
                          <m:r>
                            <a:rPr lang="es-AR" sz="3000" i="1" dirty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 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𝑡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𝑙𝑛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(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𝑡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),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𝑠𝑒𝑛</m:t>
                          </m:r>
                          <m:d>
                            <m:d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𝑡</m:t>
                                  </m:r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−1</m:t>
                                  </m:r>
                                </m:e>
                              </m:rad>
                            </m:e>
                          </m:d>
                        </m:e>
                      </m:d>
                    </m:oMath>
                  </m:oMathPara>
                </a14:m>
                <a:endParaRPr lang="es-AR" sz="3000" b="1" dirty="0">
                  <a:solidFill>
                    <a:schemeClr val="tx1"/>
                  </a:solidFill>
                </a:endParaRPr>
              </a:p>
              <a:p>
                <a:endParaRPr lang="es-AR" sz="3000" b="1" dirty="0"/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endParaRPr lang="es-AR" sz="3000" b="1" dirty="0"/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04A6942-6D64-E2E5-8A2F-C576C6E7A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0663754" cy="4938211"/>
              </a:xfrm>
              <a:prstGeom prst="rect">
                <a:avLst/>
              </a:prstGeom>
              <a:blipFill>
                <a:blip r:embed="rId3"/>
                <a:stretch>
                  <a:fillRect l="-1372" t="-160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C00F144B-D484-84F1-1790-E0709BC90638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801504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F01CC-AB75-10F3-12A6-3A337B790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474011F-9C15-C9C2-513D-33CE7EE2B2A3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6E9C343-4168-834D-2BB0-F0519AE30B46}"/>
                  </a:ext>
                </a:extLst>
              </p:cNvPr>
              <p:cNvSpPr txBox="1"/>
              <p:nvPr/>
            </p:nvSpPr>
            <p:spPr>
              <a:xfrm>
                <a:off x="563880" y="502920"/>
                <a:ext cx="10663754" cy="5060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DERIVABILIDAD DE F.V</a:t>
                </a:r>
              </a:p>
              <a:p>
                <a:pPr algn="ctr"/>
                <a:endParaRPr lang="es-AR" sz="3000" b="1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</a:rPr>
                  <a:t>Sea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…</m:t>
                        </m:r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s-AR" sz="3000" dirty="0">
                  <a:ea typeface="Cambria Math" panose="02040503050406030204" pitchFamily="18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Si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𝒇</m:t>
                        </m:r>
                      </m:e>
                    </m:acc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admite vector derivado </a:t>
                </a:r>
                <a:r>
                  <a:rPr lang="es-AR" sz="30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no nulo</a:t>
                </a:r>
                <a:r>
                  <a:rPr lang="es-AR" sz="3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s-AR" sz="3000" dirty="0">
                    <a:ea typeface="Cambria Math" panose="02040503050406030204" pitchFamily="18" charset="0"/>
                  </a:rPr>
                  <a:t>se dice que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𝒇</m:t>
                        </m:r>
                      </m:e>
                    </m:acc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es una parametrización </a:t>
                </a:r>
                <a:r>
                  <a:rPr lang="es-AR" sz="3000" b="1" dirty="0">
                    <a:ea typeface="Cambria Math" panose="02040503050406030204" pitchFamily="18" charset="0"/>
                  </a:rPr>
                  <a:t>regular </a:t>
                </a:r>
                <a:r>
                  <a:rPr lang="es-AR" sz="3000" dirty="0">
                    <a:ea typeface="Cambria Math" panose="02040503050406030204" pitchFamily="18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𝐼𝑚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</m:oMath>
                </a14:m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s-AR" sz="3000" dirty="0"/>
              </a:p>
              <a:p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s-AR" sz="3000" dirty="0">
                    <a:ea typeface="Cambria Math" panose="02040503050406030204" pitchFamily="18" charset="0"/>
                  </a:rPr>
                  <a:t> En símbolos:             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:∃ </m:t>
                    </m:r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′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∧   </m:t>
                    </m:r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′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6E9C343-4168-834D-2BB0-F0519AE30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502920"/>
                <a:ext cx="10663754" cy="5060744"/>
              </a:xfrm>
              <a:prstGeom prst="rect">
                <a:avLst/>
              </a:prstGeom>
              <a:blipFill>
                <a:blip r:embed="rId2"/>
                <a:stretch>
                  <a:fillRect l="-1372" t="-1566" b="-28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22CFAF02-39AE-09DD-5191-755C5179C46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2977658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F6BD7EF-822F-D918-5D0B-F78400B5AB8A}"/>
                  </a:ext>
                </a:extLst>
              </p:cNvPr>
              <p:cNvSpPr txBox="1"/>
              <p:nvPr/>
            </p:nvSpPr>
            <p:spPr>
              <a:xfrm>
                <a:off x="623840" y="237589"/>
                <a:ext cx="10903596" cy="8361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APLICACIÓN FÍSICA y GEOMÉTRICA</a:t>
                </a:r>
              </a:p>
              <a:p>
                <a:pPr algn="ctr"/>
                <a:endParaRPr lang="es-AR" sz="3000" b="1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</a:rPr>
                  <a:t>Sea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acc>
                      <m:accPr>
                        <m:chr m:val="⃗"/>
                        <m:ctrlPr>
                          <a:rPr lang="es-AR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s-AR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AR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…</m:t>
                        </m:r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s-AR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regular </a:t>
                </a:r>
                <a:r>
                  <a:rPr lang="es-AR" sz="3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s-AR" sz="3000" b="0" dirty="0">
                  <a:ea typeface="Cambria Math" panose="02040503050406030204" pitchFamily="18" charset="0"/>
                </a:endParaRPr>
              </a:p>
              <a:p>
                <a:endParaRPr lang="es-AR" sz="300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𝒇</m:t>
                        </m:r>
                      </m:e>
                    </m:acc>
                    <m:r>
                      <a:rPr lang="es-AR" sz="3000" b="1" i="1" dirty="0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′(</m:t>
                    </m:r>
                    <m:sSub>
                      <m:sSubPr>
                        <m:ctrlPr>
                          <a:rPr lang="es-AR" sz="3000" b="1" i="1" dirty="0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1" i="1" dirty="0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𝒕</m:t>
                        </m:r>
                      </m:e>
                      <m:sub>
                        <m:r>
                          <a:rPr lang="es-AR" sz="3000" b="1" i="1" dirty="0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𝟎</m:t>
                        </m:r>
                      </m:sub>
                    </m:sSub>
                    <m:r>
                      <a:rPr lang="es-AR" sz="3000" b="1" i="1" dirty="0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)</m:t>
                    </m:r>
                  </m:oMath>
                </a14:m>
                <a:r>
                  <a:rPr lang="es-AR" sz="3000" b="0" dirty="0">
                    <a:ea typeface="Cambria Math" panose="02040503050406030204" pitchFamily="18" charset="0"/>
                  </a:rPr>
                  <a:t> es un </a:t>
                </a:r>
                <a:r>
                  <a:rPr lang="es-AR" sz="3000" b="1" dirty="0">
                    <a:ea typeface="Cambria Math" panose="02040503050406030204" pitchFamily="18" charset="0"/>
                  </a:rPr>
                  <a:t>vector</a:t>
                </a:r>
                <a:r>
                  <a:rPr lang="es-AR" sz="3000" b="0" dirty="0">
                    <a:ea typeface="Cambria Math" panose="02040503050406030204" pitchFamily="18" charset="0"/>
                  </a:rPr>
                  <a:t> </a:t>
                </a:r>
                <a:r>
                  <a:rPr lang="es-AR" sz="3000" b="1" dirty="0">
                    <a:ea typeface="Cambria Math" panose="02040503050406030204" pitchFamily="18" charset="0"/>
                  </a:rPr>
                  <a:t>tangente</a:t>
                </a:r>
                <a:r>
                  <a:rPr lang="es-AR" sz="3000" b="0" dirty="0">
                    <a:ea typeface="Cambria Math" panose="02040503050406030204" pitchFamily="18" charset="0"/>
                  </a:rPr>
                  <a:t> a la curva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𝐼𝑚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</m:oMath>
                </a14:m>
                <a:endParaRPr lang="es-AR" sz="30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es-AR" sz="30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𝒇</m:t>
                        </m:r>
                      </m:e>
                    </m:acc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 ′</m:t>
                    </m:r>
                    <m:r>
                      <a:rPr lang="es-AR" sz="3000" b="1" i="1" dirty="0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(</m:t>
                    </m:r>
                    <m:sSub>
                      <m:sSubPr>
                        <m:ctrlPr>
                          <a:rPr lang="es-AR" sz="3000" b="1" i="1" dirty="0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1" i="1" dirty="0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𝒕</m:t>
                        </m:r>
                      </m:e>
                      <m:sub>
                        <m:r>
                          <a:rPr lang="es-AR" sz="3000" b="1" i="1" dirty="0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𝟎</m:t>
                        </m:r>
                      </m:sub>
                    </m:sSub>
                    <m:r>
                      <a:rPr lang="es-AR" sz="3000" b="1" i="1" dirty="0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)</m:t>
                    </m:r>
                  </m:oMath>
                </a14:m>
                <a:r>
                  <a:rPr lang="es-AR" sz="3000" b="0" dirty="0">
                    <a:ea typeface="Cambria Math" panose="02040503050406030204" pitchFamily="18" charset="0"/>
                  </a:rPr>
                  <a:t> es el </a:t>
                </a:r>
                <a:r>
                  <a:rPr lang="es-AR" sz="3000" b="1" dirty="0">
                    <a:ea typeface="Cambria Math" panose="02040503050406030204" pitchFamily="18" charset="0"/>
                  </a:rPr>
                  <a:t>vector velocidad </a:t>
                </a:r>
                <a:r>
                  <a:rPr lang="es-AR" sz="3000" b="0" dirty="0">
                    <a:ea typeface="Cambria Math" panose="02040503050406030204" pitchFamily="18" charset="0"/>
                  </a:rPr>
                  <a:t>de una partícula que se mueve según la trayectoria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𝒇</m:t>
                        </m:r>
                      </m:e>
                    </m:acc>
                    <m:r>
                      <a:rPr lang="es-AR" sz="3000" b="0" i="0" dirty="0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,</m:t>
                    </m:r>
                  </m:oMath>
                </a14:m>
                <a:r>
                  <a:rPr lang="es-AR" sz="3000" b="0" dirty="0">
                    <a:ea typeface="Cambria Math" panose="02040503050406030204" pitchFamily="18" charset="0"/>
                  </a:rPr>
                  <a:t> al pasar por el punto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P</m:t>
                    </m:r>
                    <m:r>
                      <a:rPr lang="es-AR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𝒇</m:t>
                        </m:r>
                      </m:e>
                    </m:acc>
                    <m:d>
                      <m:dPr>
                        <m:ctrlPr>
                          <a:rPr lang="es-AR" sz="3000" b="1" i="1" dirty="0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1" i="1" dirty="0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bPr>
                          <m:e>
                            <m:r>
                              <a:rPr lang="es-AR" sz="3000" b="1" i="1" dirty="0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𝒕</m:t>
                            </m:r>
                          </m:e>
                          <m:sub>
                            <m:r>
                              <a:rPr lang="es-AR" sz="3000" b="1" i="1" dirty="0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endParaRPr lang="es-AR" sz="30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es-AR" sz="300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s-AR" sz="3000" b="0" dirty="0">
                    <a:ea typeface="Cambria Math" panose="02040503050406030204" pitchFamily="18" charset="0"/>
                  </a:rPr>
                  <a:t>La rapidez de la partícula al pasar por P es igual a: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′(</m:t>
                    </m:r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)||</m:t>
                    </m:r>
                  </m:oMath>
                </a14:m>
                <a:endParaRPr lang="es-AR" sz="300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es-AR" sz="30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s-AR" sz="3000" b="0" dirty="0">
                    <a:ea typeface="Cambria Math" panose="02040503050406030204" pitchFamily="18" charset="0"/>
                  </a:rPr>
                  <a:t>El sent</a:t>
                </a:r>
                <a:r>
                  <a:rPr lang="es-AR" sz="3000" dirty="0">
                    <a:ea typeface="Cambria Math" panose="02040503050406030204" pitchFamily="18" charset="0"/>
                  </a:rPr>
                  <a:t>ido de recorrido es único (no cambia)</a:t>
                </a:r>
                <a:endParaRPr lang="es-AR" sz="30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es-AR" sz="3000" b="0" dirty="0">
                  <a:ea typeface="Cambria Math" panose="02040503050406030204" pitchFamily="18" charset="0"/>
                </a:endParaRPr>
              </a:p>
              <a:p>
                <a:endParaRPr lang="es-AR" sz="30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s-AR" sz="3000" dirty="0">
                  <a:ea typeface="Cambria Math" panose="02040503050406030204" pitchFamily="18" charset="0"/>
                </a:endParaRPr>
              </a:p>
              <a:p>
                <a:endParaRPr lang="es-AR" sz="3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F6BD7EF-822F-D918-5D0B-F78400B5A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40" y="237589"/>
                <a:ext cx="10903596" cy="8361841"/>
              </a:xfrm>
              <a:prstGeom prst="rect">
                <a:avLst/>
              </a:prstGeom>
              <a:blipFill>
                <a:blip r:embed="rId2"/>
                <a:stretch>
                  <a:fillRect l="-1286" t="-94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37BE42C7-E2DE-F648-CE0F-093FAACC4E3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635707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00132-FFA4-0D94-86FE-9DDAF962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7EE8C2-8F71-613D-BB30-287833D43698}"/>
              </a:ext>
            </a:extLst>
          </p:cNvPr>
          <p:cNvSpPr txBox="1"/>
          <p:nvPr/>
        </p:nvSpPr>
        <p:spPr>
          <a:xfrm>
            <a:off x="623840" y="237589"/>
            <a:ext cx="106637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latin typeface="Arial Nova" panose="020B0504020202020204" pitchFamily="34" charset="0"/>
                <a:cs typeface="Aharoni" panose="02010803020104030203" pitchFamily="2" charset="-79"/>
              </a:rPr>
              <a:t>EJEMPLO 1:</a:t>
            </a:r>
            <a:endParaRPr lang="es-AR" sz="3000" dirty="0">
              <a:ea typeface="Cambria Math" panose="020405030504060302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42894D2-90C4-A5C8-55CD-D00DB8819495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5FF1E6-955E-EB35-3996-6146B61E3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91586"/>
            <a:ext cx="12154613" cy="120210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BECC514-252D-3729-27F8-7BADA8285BE9}"/>
              </a:ext>
            </a:extLst>
          </p:cNvPr>
          <p:cNvSpPr txBox="1"/>
          <p:nvPr/>
        </p:nvSpPr>
        <p:spPr>
          <a:xfrm>
            <a:off x="623840" y="1993691"/>
            <a:ext cx="9869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Graficar el vector velocidad en el punto de encuentro y calcular la rapidez de cada móvil en el instante del encuentro. </a:t>
            </a:r>
          </a:p>
        </p:txBody>
      </p:sp>
    </p:spTree>
    <p:extLst>
      <p:ext uri="{BB962C8B-B14F-4D97-AF65-F5344CB8AC3E}">
        <p14:creationId xmlns:p14="http://schemas.microsoft.com/office/powerpoint/2010/main" val="2020683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DD1D-0DB2-7402-E96F-05C03C2C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794A9E-3AF6-9B1A-E2C5-400B983AF2B2}"/>
              </a:ext>
            </a:extLst>
          </p:cNvPr>
          <p:cNvSpPr txBox="1"/>
          <p:nvPr/>
        </p:nvSpPr>
        <p:spPr>
          <a:xfrm>
            <a:off x="623840" y="237589"/>
            <a:ext cx="106637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latin typeface="Arial Nova" panose="020B0504020202020204" pitchFamily="34" charset="0"/>
                <a:cs typeface="Aharoni" panose="02010803020104030203" pitchFamily="2" charset="-79"/>
              </a:rPr>
              <a:t>EJEMPLO 2   </a:t>
            </a:r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-parcial 1 2c24-</a:t>
            </a:r>
            <a:r>
              <a:rPr lang="es-AR" sz="3000" b="1" dirty="0">
                <a:latin typeface="Arial Nova" panose="020B0504020202020204" pitchFamily="34" charset="0"/>
                <a:cs typeface="Aharoni" panose="02010803020104030203" pitchFamily="2" charset="-79"/>
              </a:rPr>
              <a:t>:</a:t>
            </a:r>
          </a:p>
          <a:p>
            <a:pPr algn="ctr"/>
            <a:endParaRPr lang="es-AR" sz="3000" b="1" dirty="0"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endParaRPr lang="es-AR" sz="3000" b="1" dirty="0">
              <a:latin typeface="Arial Nova" panose="020B0504020202020204" pitchFamily="34" charset="0"/>
              <a:ea typeface="Cambria Math" panose="0204050305040603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2D8BFD-CCB2-CC2E-1401-6DB887E05B5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2BD820D-C41F-538F-F23A-8062859FFA01}"/>
                  </a:ext>
                </a:extLst>
              </p:cNvPr>
              <p:cNvSpPr txBox="1"/>
              <p:nvPr/>
            </p:nvSpPr>
            <p:spPr>
              <a:xfrm>
                <a:off x="411479" y="1023440"/>
                <a:ext cx="11088475" cy="2182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/>
                  <a:t>Parametrizar la curva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s-AR" sz="3000" dirty="0"/>
                  <a:t> y hallar la velocidad y rapidez que lleva una partícula al pasar por el punto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s-AR" sz="3000" dirty="0"/>
                  <a:t>. Graficar la curva, indicando sentido de recorrido inducido por la parametrización propuesta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2BD820D-C41F-538F-F23A-8062859FF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" y="1023440"/>
                <a:ext cx="11088475" cy="2182521"/>
              </a:xfrm>
              <a:prstGeom prst="rect">
                <a:avLst/>
              </a:prstGeom>
              <a:blipFill>
                <a:blip r:embed="rId2"/>
                <a:stretch>
                  <a:fillRect l="-1264" t="-3352" b="-782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98988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38E12-2DE0-1327-695A-F442AEE90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6851C11F-60B0-AA23-7612-18F66A090AEC}"/>
                  </a:ext>
                </a:extLst>
              </p:cNvPr>
              <p:cNvSpPr txBox="1"/>
              <p:nvPr/>
            </p:nvSpPr>
            <p:spPr>
              <a:xfrm>
                <a:off x="316666" y="372501"/>
                <a:ext cx="10663754" cy="609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CURVAS COMO INTERSECCIÓN DE SUPERFICIES</a:t>
                </a:r>
              </a:p>
              <a:p>
                <a:pPr algn="ctr"/>
                <a:endParaRPr lang="es-AR" sz="3000" b="1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  <a:ea typeface="Cambria Math" panose="02040503050406030204" pitchFamily="18" charset="0"/>
                    <a:cs typeface="Aharoni" panose="02010803020104030203" pitchFamily="2" charset="-79"/>
                  </a:rPr>
                  <a:t>Una curva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AR" sz="3000" dirty="0">
                    <a:latin typeface="Arial Nova" panose="020B0504020202020204" pitchFamily="34" charset="0"/>
                    <a:ea typeface="Cambria Math" panose="02040503050406030204" pitchFamily="18" charset="0"/>
                    <a:cs typeface="Aharoni" panose="02010803020104030203" pitchFamily="2" charset="-79"/>
                  </a:rPr>
                  <a:t> no se puede definir con una única ecuación cartesiana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  <a:ea typeface="Cambria Math" panose="02040503050406030204" pitchFamily="18" charset="0"/>
                    <a:cs typeface="Aharoni" panose="02010803020104030203" pitchFamily="2" charset="-79"/>
                  </a:rPr>
                  <a:t>Una ecuación cartesiana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AR" sz="3000" dirty="0">
                    <a:latin typeface="Arial Nova" panose="020B0504020202020204" pitchFamily="34" charset="0"/>
                    <a:ea typeface="Cambria Math" panose="02040503050406030204" pitchFamily="18" charset="0"/>
                    <a:cs typeface="Aharoni" panose="02010803020104030203" pitchFamily="2" charset="-79"/>
                  </a:rPr>
                  <a:t> define una superficie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  <a:ea typeface="Cambria Math" panose="02040503050406030204" pitchFamily="18" charset="0"/>
                    <a:cs typeface="Aharoni" panose="02010803020104030203" pitchFamily="2" charset="-79"/>
                  </a:rPr>
                  <a:t>La intersección entre dos superficies es una curva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6851C11F-60B0-AA23-7612-18F66A090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66" y="372501"/>
                <a:ext cx="10663754" cy="6093976"/>
              </a:xfrm>
              <a:prstGeom prst="rect">
                <a:avLst/>
              </a:prstGeom>
              <a:blipFill>
                <a:blip r:embed="rId2"/>
                <a:stretch>
                  <a:fillRect l="-286" t="-1300" r="-108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0860CF5E-3383-B30A-CE54-8456934821D9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6619353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4DA2-A869-B0DC-347B-D565C9EF3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6232FB5-47F1-A8F5-BF34-60B1E102E1D8}"/>
                  </a:ext>
                </a:extLst>
              </p:cNvPr>
              <p:cNvSpPr txBox="1"/>
              <p:nvPr/>
            </p:nvSpPr>
            <p:spPr>
              <a:xfrm>
                <a:off x="316666" y="372501"/>
                <a:ext cx="10663754" cy="43538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CURVAS COMO INTERSECCIÓN DE SUPERFICIES</a:t>
                </a:r>
              </a:p>
              <a:p>
                <a:pPr algn="ctr"/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EJEMPLO 1: </a:t>
                </a:r>
              </a:p>
              <a:p>
                <a:pPr algn="ctr"/>
                <a:r>
                  <a:rPr lang="es-AR" sz="3000" dirty="0">
                    <a:ea typeface="Cambria Math" panose="02040503050406030204" pitchFamily="18" charset="0"/>
                    <a:cs typeface="Aharoni" panose="02010803020104030203" pitchFamily="2" charset="-79"/>
                  </a:rPr>
                  <a:t>Proponer una parametrización para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C</m:t>
                    </m:r>
                    <m:r>
                      <a:rPr lang="es-AR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es-AR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AR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𝑧</m:t>
                                </m:r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=</m:t>
                                </m:r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𝑧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=4</m:t>
                            </m:r>
                          </m:e>
                        </m:eqArr>
                      </m:e>
                    </m:d>
                  </m:oMath>
                </a14:m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6232FB5-47F1-A8F5-BF34-60B1E102E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66" y="372501"/>
                <a:ext cx="10663754" cy="4353821"/>
              </a:xfrm>
              <a:prstGeom prst="rect">
                <a:avLst/>
              </a:prstGeom>
              <a:blipFill>
                <a:blip r:embed="rId2"/>
                <a:stretch>
                  <a:fillRect t="-182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B51229FA-F45E-ABF7-E79B-6B1BB8F3056D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8054363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E24-61F4-A398-091F-7DC9E25F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A454610-983A-010C-DCA3-4302B87B8220}"/>
                  </a:ext>
                </a:extLst>
              </p:cNvPr>
              <p:cNvSpPr txBox="1"/>
              <p:nvPr/>
            </p:nvSpPr>
            <p:spPr>
              <a:xfrm>
                <a:off x="316666" y="372501"/>
                <a:ext cx="10663754" cy="4523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CURVAS COMO INTERSECCIÓN DE SUPERFICIES</a:t>
                </a:r>
              </a:p>
              <a:p>
                <a:pPr algn="ctr"/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EJEMPLO 2: </a:t>
                </a:r>
              </a:p>
              <a:p>
                <a:pPr algn="ctr"/>
                <a:r>
                  <a:rPr lang="es-AR" sz="3000" dirty="0">
                    <a:ea typeface="Cambria Math" panose="02040503050406030204" pitchFamily="18" charset="0"/>
                    <a:cs typeface="Aharoni" panose="02010803020104030203" pitchFamily="2" charset="-79"/>
                  </a:rPr>
                  <a:t>Proponer una parametrización para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3000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C</m:t>
                    </m:r>
                    <m:r>
                      <a:rPr lang="es-AR" sz="3000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r>
                      <a:rPr lang="es-AR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es-AR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AR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𝑧</m:t>
                                </m:r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=</m:t>
                                </m:r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sSup>
                              <m:sSup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=1</m:t>
                            </m:r>
                          </m:e>
                        </m:eqArr>
                      </m:e>
                    </m:d>
                  </m:oMath>
                </a14:m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A454610-983A-010C-DCA3-4302B87B8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66" y="372501"/>
                <a:ext cx="10663754" cy="4523033"/>
              </a:xfrm>
              <a:prstGeom prst="rect">
                <a:avLst/>
              </a:prstGeom>
              <a:blipFill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D24E4D96-CBA6-ADC7-808A-8477DEBE479E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669556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211CE-9E12-F35C-5271-572010176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089DB7E-D6AA-1013-E2D8-7BD1380DA8EF}"/>
                  </a:ext>
                </a:extLst>
              </p:cNvPr>
              <p:cNvSpPr txBox="1"/>
              <p:nvPr/>
            </p:nvSpPr>
            <p:spPr>
              <a:xfrm>
                <a:off x="316666" y="372501"/>
                <a:ext cx="10663754" cy="4523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CURVAS COMO INTERSECCIÓN DE SUPERFICIES</a:t>
                </a:r>
              </a:p>
              <a:p>
                <a:pPr algn="ctr"/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EJEMPLO 3: </a:t>
                </a:r>
              </a:p>
              <a:p>
                <a:pPr algn="ctr"/>
                <a:r>
                  <a:rPr lang="es-AR" sz="3000" dirty="0">
                    <a:ea typeface="Cambria Math" panose="02040503050406030204" pitchFamily="18" charset="0"/>
                    <a:cs typeface="Aharoni" panose="02010803020104030203" pitchFamily="2" charset="-79"/>
                  </a:rPr>
                  <a:t>Proponer una parametrización para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3000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C</m:t>
                    </m:r>
                    <m:r>
                      <a:rPr lang="es-AR" sz="3000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r>
                      <a:rPr lang="es-AR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es-AR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AR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eqArr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𝑧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s-AR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haroni" panose="02010803020104030203" pitchFamily="2" charset="-79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AR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haroni" panose="02010803020104030203" pitchFamily="2" charset="-79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AR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haroni" panose="02010803020104030203" pitchFamily="2" charset="-79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s-AR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haroni" panose="02010803020104030203" pitchFamily="2" charset="-79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AR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haroni" panose="02010803020104030203" pitchFamily="2" charset="-79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s-AR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haroni" panose="02010803020104030203" pitchFamily="2" charset="-79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𝑧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=2−</m:t>
                            </m:r>
                            <m:sSup>
                              <m:sSup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2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089DB7E-D6AA-1013-E2D8-7BD1380DA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66" y="372501"/>
                <a:ext cx="10663754" cy="4523033"/>
              </a:xfrm>
              <a:prstGeom prst="rect">
                <a:avLst/>
              </a:prstGeom>
              <a:blipFill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B63F89DC-7604-AE3C-00ED-F90DCBF0FB35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9691057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E64E4AB930084299D6310910972BCF" ma:contentTypeVersion="4" ma:contentTypeDescription="Crear nuevo documento." ma:contentTypeScope="" ma:versionID="7c36414d06d47e3d3167f4c0d79ad96d">
  <xsd:schema xmlns:xsd="http://www.w3.org/2001/XMLSchema" xmlns:xs="http://www.w3.org/2001/XMLSchema" xmlns:p="http://schemas.microsoft.com/office/2006/metadata/properties" xmlns:ns2="e6951571-1f5f-46db-aa42-ecf55515a371" targetNamespace="http://schemas.microsoft.com/office/2006/metadata/properties" ma:root="true" ma:fieldsID="fc5064cac5e842f271555dd857a006a0" ns2:_="">
    <xsd:import namespace="e6951571-1f5f-46db-aa42-ecf55515a3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951571-1f5f-46db-aa42-ecf55515a3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D4F945-F495-4734-9A1E-970891F7F8AB}"/>
</file>

<file path=customXml/itemProps2.xml><?xml version="1.0" encoding="utf-8"?>
<ds:datastoreItem xmlns:ds="http://schemas.openxmlformats.org/officeDocument/2006/customXml" ds:itemID="{4CCEE363-D740-4B24-BB29-6A06D5528591}"/>
</file>

<file path=customXml/itemProps3.xml><?xml version="1.0" encoding="utf-8"?>
<ds:datastoreItem xmlns:ds="http://schemas.openxmlformats.org/officeDocument/2006/customXml" ds:itemID="{73F1D8FE-D2A4-4880-8418-A69C371EE9F6}"/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1877</Words>
  <Application>Microsoft Office PowerPoint</Application>
  <PresentationFormat>Panorámica</PresentationFormat>
  <Paragraphs>425</Paragraphs>
  <Slides>43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2" baseType="lpstr">
      <vt:lpstr>Aharoni</vt:lpstr>
      <vt:lpstr>Aptos</vt:lpstr>
      <vt:lpstr>Aptos Display</vt:lpstr>
      <vt:lpstr>Arial</vt:lpstr>
      <vt:lpstr>Arial Nova</vt:lpstr>
      <vt:lpstr>Berlin Sans FB Demi</vt:lpstr>
      <vt:lpstr>Cambria Math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FAGES LUCIANO RODOLFO</dc:creator>
  <cp:lastModifiedBy>FAGES LUCIANO RODOLFO</cp:lastModifiedBy>
  <cp:revision>2</cp:revision>
  <dcterms:created xsi:type="dcterms:W3CDTF">2025-03-01T13:56:55Z</dcterms:created>
  <dcterms:modified xsi:type="dcterms:W3CDTF">2025-03-18T04:44:34Z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0x01010032E64E4AB930084299D6310910972BCF</vt:lpwstr>
  </property>
</Properties>
</file>