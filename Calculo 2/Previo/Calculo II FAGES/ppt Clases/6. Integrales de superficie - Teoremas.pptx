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4" r:id="rId5"/>
    <p:sldId id="262" r:id="rId6"/>
    <p:sldId id="263" r:id="rId7"/>
    <p:sldId id="266" r:id="rId8"/>
    <p:sldId id="265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346DCA-0BBE-4001-A3E4-019ADE68EC4D}" v="647" dt="2025-06-18T02:13:12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GES LUCIANO RODOLFO" userId="224ab6d9-70b5-4e2a-bfb3-d436487689cf" providerId="ADAL" clId="{5C346DCA-0BBE-4001-A3E4-019ADE68EC4D}"/>
    <pc:docChg chg="undo custSel addSld delSld modSld sldOrd">
      <pc:chgData name="FAGES LUCIANO RODOLFO" userId="224ab6d9-70b5-4e2a-bfb3-d436487689cf" providerId="ADAL" clId="{5C346DCA-0BBE-4001-A3E4-019ADE68EC4D}" dt="2025-06-18T02:13:12.701" v="1307" actId="20577"/>
      <pc:docMkLst>
        <pc:docMk/>
      </pc:docMkLst>
      <pc:sldChg chg="addSp modSp new mod">
        <pc:chgData name="FAGES LUCIANO RODOLFO" userId="224ab6d9-70b5-4e2a-bfb3-d436487689cf" providerId="ADAL" clId="{5C346DCA-0BBE-4001-A3E4-019ADE68EC4D}" dt="2025-06-09T09:06:55.483" v="42"/>
        <pc:sldMkLst>
          <pc:docMk/>
          <pc:sldMk cId="4028614692" sldId="256"/>
        </pc:sldMkLst>
        <pc:spChg chg="add mod">
          <ac:chgData name="FAGES LUCIANO RODOLFO" userId="224ab6d9-70b5-4e2a-bfb3-d436487689cf" providerId="ADAL" clId="{5C346DCA-0BBE-4001-A3E4-019ADE68EC4D}" dt="2025-06-09T09:06:16.259" v="37" actId="20577"/>
          <ac:spMkLst>
            <pc:docMk/>
            <pc:sldMk cId="4028614692" sldId="256"/>
            <ac:spMk id="2" creationId="{70AD531C-6802-E9FD-62B6-34D1C18EE615}"/>
          </ac:spMkLst>
        </pc:spChg>
        <pc:spChg chg="add mod">
          <ac:chgData name="FAGES LUCIANO RODOLFO" userId="224ab6d9-70b5-4e2a-bfb3-d436487689cf" providerId="ADAL" clId="{5C346DCA-0BBE-4001-A3E4-019ADE68EC4D}" dt="2025-06-09T09:06:55.483" v="42"/>
          <ac:spMkLst>
            <pc:docMk/>
            <pc:sldMk cId="4028614692" sldId="256"/>
            <ac:spMk id="3" creationId="{88D8F3F8-5EA4-97B7-73B9-23878D49498D}"/>
          </ac:spMkLst>
        </pc:spChg>
      </pc:sldChg>
      <pc:sldChg chg="addSp modSp new del ord">
        <pc:chgData name="FAGES LUCIANO RODOLFO" userId="224ab6d9-70b5-4e2a-bfb3-d436487689cf" providerId="ADAL" clId="{5C346DCA-0BBE-4001-A3E4-019ADE68EC4D}" dt="2025-06-11T09:34:28.847" v="1289" actId="47"/>
        <pc:sldMkLst>
          <pc:docMk/>
          <pc:sldMk cId="341370979" sldId="257"/>
        </pc:sldMkLst>
      </pc:sldChg>
      <pc:sldChg chg="modSp add mod">
        <pc:chgData name="FAGES LUCIANO RODOLFO" userId="224ab6d9-70b5-4e2a-bfb3-d436487689cf" providerId="ADAL" clId="{5C346DCA-0BBE-4001-A3E4-019ADE68EC4D}" dt="2025-06-11T09:30:43.840" v="1160" actId="20577"/>
        <pc:sldMkLst>
          <pc:docMk/>
          <pc:sldMk cId="1783890175" sldId="259"/>
        </pc:sldMkLst>
      </pc:sldChg>
      <pc:sldChg chg="modSp add mod ord">
        <pc:chgData name="FAGES LUCIANO RODOLFO" userId="224ab6d9-70b5-4e2a-bfb3-d436487689cf" providerId="ADAL" clId="{5C346DCA-0BBE-4001-A3E4-019ADE68EC4D}" dt="2025-06-11T09:29:55.702" v="1147" actId="1076"/>
        <pc:sldMkLst>
          <pc:docMk/>
          <pc:sldMk cId="3259468377" sldId="260"/>
        </pc:sldMkLst>
      </pc:sldChg>
      <pc:sldChg chg="modSp add mod ord">
        <pc:chgData name="FAGES LUCIANO RODOLFO" userId="224ab6d9-70b5-4e2a-bfb3-d436487689cf" providerId="ADAL" clId="{5C346DCA-0BBE-4001-A3E4-019ADE68EC4D}" dt="2025-06-11T09:35:00.585" v="1303" actId="20577"/>
        <pc:sldMkLst>
          <pc:docMk/>
          <pc:sldMk cId="167235800" sldId="261"/>
        </pc:sldMkLst>
      </pc:sldChg>
      <pc:sldChg chg="addSp modSp new mod ord">
        <pc:chgData name="FAGES LUCIANO RODOLFO" userId="224ab6d9-70b5-4e2a-bfb3-d436487689cf" providerId="ADAL" clId="{5C346DCA-0BBE-4001-A3E4-019ADE68EC4D}" dt="2025-06-11T09:34:14.358" v="1288" actId="20577"/>
        <pc:sldMkLst>
          <pc:docMk/>
          <pc:sldMk cId="1837301921" sldId="262"/>
        </pc:sldMkLst>
      </pc:sldChg>
      <pc:sldChg chg="modSp add ord">
        <pc:chgData name="FAGES LUCIANO RODOLFO" userId="224ab6d9-70b5-4e2a-bfb3-d436487689cf" providerId="ADAL" clId="{5C346DCA-0BBE-4001-A3E4-019ADE68EC4D}" dt="2025-06-18T02:13:12.701" v="1307" actId="20577"/>
        <pc:sldMkLst>
          <pc:docMk/>
          <pc:sldMk cId="3364087519" sldId="269"/>
        </pc:sldMkLst>
        <pc:spChg chg="mod">
          <ac:chgData name="FAGES LUCIANO RODOLFO" userId="224ab6d9-70b5-4e2a-bfb3-d436487689cf" providerId="ADAL" clId="{5C346DCA-0BBE-4001-A3E4-019ADE68EC4D}" dt="2025-06-18T02:13:12.701" v="1307" actId="20577"/>
          <ac:spMkLst>
            <pc:docMk/>
            <pc:sldMk cId="3364087519" sldId="269"/>
            <ac:spMk id="4" creationId="{D75E0D88-0367-B755-F52B-512A3CD3207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02FBA-F3D1-9664-AB7B-D246C444E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6F019C-25AC-18C3-7AD0-B788C6CBF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E53D7D-0B77-2CB8-C9F6-51ADD471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0B3DD8-D0E2-1DA2-A3A7-85583305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F2020B-A8A1-F404-0885-E2F5FCD3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741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45DAD-F22F-270B-E255-56AA836C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5F2777-B674-05F1-FC44-5FCD9CF52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E0C2F1-566C-C88C-62B3-12D44DB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688CD5-4143-11D4-A392-329D5B22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B8E930-B957-9756-E744-BA8F8F64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001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6BEC1-5CC8-B8B7-1300-F2E1500B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6C11E7-C8B6-CCAA-57E5-2C2E43C93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DA841-727C-A67A-3334-2BFD6097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98DEFF-0330-61C6-24ED-81284F0F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842629-A468-0475-EDDC-6F4D81D2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136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29283-4CAA-7822-674A-F6C0E026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2F987A-035A-5AC0-62BC-AD07788B1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4F4A3A-E1F8-031E-429C-3840769C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44D64B-A48F-A6E2-989A-CD4FC061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46E756-753C-9644-4E2A-0BF7FDFF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C2C383-227F-B806-6BE5-D30B6627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754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3A9BC-53B1-B072-E0EA-9F22D75C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415072-1764-D762-2DC6-1151103F3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17976F-010E-B58A-634E-9BAAB869B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A3133E4-7F8D-E750-6EA1-97674D8C6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3A3010-1BC7-697D-71BD-BCFEAE7A7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D8AB796-4E94-119D-EB88-C5FB6FE7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8631286-D463-4D2D-3CA4-F1FA7167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6DE701-4C15-0DD0-797B-15EE1BA70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519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67AFA-56E8-F53E-EEEA-30BD6C60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C70C9D-257D-40B4-A3C7-40EFB1E7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DBEC57-C4B4-A8A5-C65A-607B012A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8FE6D0-9559-59D4-1808-13849186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303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C3FB21-05D6-4F92-2603-6E26361F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0A7F71-3B83-3674-1E09-BF99D854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F62DE0-65EE-9541-B045-9E54CB65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066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65AD8-6492-B2A8-ACA1-1D5BDCFA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26BFB-F45A-B658-5146-021DE5B49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BBF506-BB99-8DE9-859F-472902542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AA2551-3AC9-ADA0-10A7-52FDA18F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A86051-4FB8-5A5F-F499-752A8EE7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E405A4-5D25-454F-C993-5DB1782B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850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9180D-73A5-2135-260D-6745BA91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6886CB-787C-BE60-DE08-E21B00AA6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691989-5095-0655-02CF-8C66ACA85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869905-B94E-7E22-4568-D7E9D61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853743-CB67-E433-E8C2-22669C8C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F3BDF4-A98B-C053-C503-70319C59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39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75A90-4C1F-5746-AC70-ED2FD893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880ADF-FDC7-1680-8628-5908DCEA6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DA8D5C-6B1B-DEB0-0204-4DD739B1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585615-7574-C83E-02BE-66F996F1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288CD7-0C11-128D-CEF3-217ADE30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8725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046589-739E-B4C0-D455-C13991C77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5D990B-97DE-F70F-C22C-72A934221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2E1315-D0E5-E802-2753-D528BC83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FA12F-26A2-6010-F063-D6F3EB14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C71AA7-69CE-B81A-B527-D97D466A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838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983BE8-BF30-CBD1-32A6-90E9DBBB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7F5AA3-4CEC-1AB7-4EBB-24727224D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2067D6-007E-DAF8-1D1E-C8BD80E34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69D65-F484-407B-BE04-4E08F0198C6B}" type="datetimeFigureOut">
              <a:rPr lang="es-AR" smtClean="0"/>
              <a:t>17/6/2025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DDD154-BA67-13D6-BAB9-47F8267BA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6AC7A2-5E5B-B16D-B6B7-8F266F215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B5617-6692-47E9-8DA3-6EA9D7526F9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6014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AD531C-6802-E9FD-62B6-34D1C18EE615}"/>
              </a:ext>
            </a:extLst>
          </p:cNvPr>
          <p:cNvSpPr txBox="1"/>
          <p:nvPr/>
        </p:nvSpPr>
        <p:spPr>
          <a:xfrm>
            <a:off x="2532245" y="1813173"/>
            <a:ext cx="712751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INTEGRALES 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SOBRE SUPERFICIES</a:t>
            </a:r>
            <a:endParaRPr lang="es-AR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D8F3F8-5EA4-97B7-73B9-23878D49498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402861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D184-9E9A-C06E-A2AA-F4439933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047F2C1-0ECC-4E53-B190-069DDEA7BD7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EDFCBAD-1D87-51A1-0686-660C9FED4603}"/>
                  </a:ext>
                </a:extLst>
              </p:cNvPr>
              <p:cNvSpPr txBox="1"/>
              <p:nvPr/>
            </p:nvSpPr>
            <p:spPr>
              <a:xfrm>
                <a:off x="1394087" y="900936"/>
                <a:ext cx="8881672" cy="5056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DEFINICIÓN</a:t>
                </a:r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</a:t>
                </a:r>
                <a:r>
                  <a:rPr lang="es-AR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𝑆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una superficie orientable con vector normal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𝑛</m:t>
                        </m:r>
                      </m:e>
                    </m:acc>
                    <m:r>
                      <a:rPr lang="es-AR" sz="30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.</m:t>
                    </m:r>
                  </m:oMath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Sea un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𝐷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𝑅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un campo escalar continuo sobre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𝑆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se define: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La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 de </a:t>
                </a:r>
                <a14:m>
                  <m:oMath xmlns:m="http://schemas.openxmlformats.org/officeDocument/2006/math"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𝑭</m:t>
                    </m:r>
                  </m:oMath>
                </a14:m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sobre </a:t>
                </a:r>
                <a14:m>
                  <m:oMath xmlns:m="http://schemas.openxmlformats.org/officeDocument/2006/math"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𝑺</m:t>
                    </m:r>
                  </m:oMath>
                </a14:m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como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∘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𝑇</m:t>
                              </m:r>
                            </m:e>
                          </m:d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𝑑𝑆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nary>
                            <m:naryPr>
                              <m:chr m:val="∬"/>
                              <m:limLoc m:val="undOvr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16"/>
                                    </m:r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𝑢𝑣</m:t>
                                  </m:r>
                                </m:sub>
                              </m:sSub>
                              <m:r>
                                <m:rPr>
                                  <m:brk m:alnAt="16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𝑇</m:t>
                                  </m:r>
                                  <m:d>
                                    <m:dPr>
                                      <m:ctrlP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𝑢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,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⋅||</m:t>
                              </m:r>
                              <m:acc>
                                <m:accPr>
                                  <m:chr m:val="̌"/>
                                  <m:ctrlPr>
                                    <a:rPr lang="es-AR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𝑛</m:t>
                                  </m:r>
                                </m:e>
                              </m:acc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||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𝑑𝑢𝑑𝑣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Con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𝑇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𝐷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𝑢𝑣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 una parametrización de S</a:t>
                </a:r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A5BA988-0B36-0CFD-313A-741599B7E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087" y="900936"/>
                <a:ext cx="8881672" cy="5056128"/>
              </a:xfrm>
              <a:prstGeom prst="rect">
                <a:avLst/>
              </a:prstGeom>
              <a:blipFill>
                <a:blip r:embed="rId2"/>
                <a:stretch>
                  <a:fillRect l="-1579" t="-1568" r="-1441" b="-277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62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FD8E-773C-BADF-DD0D-9D6B5F21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62EBF6-7E2A-D388-11EE-10938D9E09A2}"/>
              </a:ext>
            </a:extLst>
          </p:cNvPr>
          <p:cNvSpPr txBox="1"/>
          <p:nvPr/>
        </p:nvSpPr>
        <p:spPr>
          <a:xfrm>
            <a:off x="9768840" y="6211669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047202B-FD12-C853-4527-3D15A28C024E}"/>
                  </a:ext>
                </a:extLst>
              </p:cNvPr>
              <p:cNvSpPr txBox="1"/>
              <p:nvPr/>
            </p:nvSpPr>
            <p:spPr>
              <a:xfrm>
                <a:off x="1409077" y="612844"/>
                <a:ext cx="8881672" cy="5170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DIFERENCIAL DE SUPERFICIE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Dada una superficie orientable, con parametrización T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𝑆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𝐼𝑚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𝑇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𝑇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𝐷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⊆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→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3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: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𝑇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𝑢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𝑣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=(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𝑥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𝑦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𝑧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</m:t>
                      </m:r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Orientador: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VECTOR NORMAL: 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es-AR" sz="30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𝑛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𝑇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𝑢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×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𝑇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𝑣</m:t>
                        </m:r>
                      </m:sub>
                    </m:sSub>
                  </m:oMath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Es decir un vector simultáneamente perpendicular a dos vectores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tangentes</a:t>
                </a:r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AB0FF2A-FB62-4A72-08C9-E7577EE4B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077" y="612844"/>
                <a:ext cx="8881672" cy="5170646"/>
              </a:xfrm>
              <a:prstGeom prst="rect">
                <a:avLst/>
              </a:prstGeom>
              <a:blipFill>
                <a:blip r:embed="rId2"/>
                <a:stretch>
                  <a:fillRect l="-343" t="-1533" r="-343" b="-271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92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F72C-D49D-23DD-D365-0DE3AB11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B6054E6-9565-CEC7-ED20-3E7AB7EEA2CA}"/>
              </a:ext>
            </a:extLst>
          </p:cNvPr>
          <p:cNvSpPr txBox="1"/>
          <p:nvPr/>
        </p:nvSpPr>
        <p:spPr>
          <a:xfrm>
            <a:off x="9768840" y="6211669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1145443-2EB6-5323-7F66-77DAA36271F9}"/>
                  </a:ext>
                </a:extLst>
              </p:cNvPr>
              <p:cNvSpPr txBox="1"/>
              <p:nvPr/>
            </p:nvSpPr>
            <p:spPr>
              <a:xfrm>
                <a:off x="584616" y="404735"/>
                <a:ext cx="10613036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1: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Calcular la integral del campo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𝑓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𝑅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: 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𝑓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𝑧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𝑧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sobre la superficie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𝑆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3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:0≤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≤4−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1145443-2EB6-5323-7F66-77DAA3627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6" y="404735"/>
                <a:ext cx="10613036" cy="1938992"/>
              </a:xfrm>
              <a:prstGeom prst="rect">
                <a:avLst/>
              </a:prstGeom>
              <a:blipFill>
                <a:blip r:embed="rId2"/>
                <a:stretch>
                  <a:fillRect t="-408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673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B0F2-F9AA-ABB7-A29A-04B29FCB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5BF1830-C2BC-921B-9492-5980C3FD7D96}"/>
                  </a:ext>
                </a:extLst>
              </p:cNvPr>
              <p:cNvSpPr txBox="1"/>
              <p:nvPr/>
            </p:nvSpPr>
            <p:spPr>
              <a:xfrm>
                <a:off x="1289155" y="1094281"/>
                <a:ext cx="8881672" cy="48283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CASOS PARTICULARES: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Á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𝒓𝒆𝒂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  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𝑎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𝑴𝒂𝒔𝒂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   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𝑀</m:t>
                      </m:r>
                      <m:d>
                        <m:dPr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</m:e>
                      </m:d>
                      <m:r>
                        <a:rPr lang="es-AR" sz="3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</m:sub>
                        <m:sup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𝛿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5BF1830-C2BC-921B-9492-5980C3FD7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155" y="1094281"/>
                <a:ext cx="8881672" cy="4828373"/>
              </a:xfrm>
              <a:prstGeom prst="rect">
                <a:avLst/>
              </a:prstGeom>
              <a:blipFill>
                <a:blip r:embed="rId2"/>
                <a:stretch>
                  <a:fillRect t="-164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A5C13F62-6479-7A8D-AB9F-692FED93A00B}"/>
              </a:ext>
            </a:extLst>
          </p:cNvPr>
          <p:cNvSpPr txBox="1"/>
          <p:nvPr/>
        </p:nvSpPr>
        <p:spPr>
          <a:xfrm>
            <a:off x="9768840" y="6211669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91422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06AA-84E5-66CA-6B29-765B629B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5F89ECC-132B-3760-EF84-08A6732CBE60}"/>
              </a:ext>
            </a:extLst>
          </p:cNvPr>
          <p:cNvSpPr txBox="1"/>
          <p:nvPr/>
        </p:nvSpPr>
        <p:spPr>
          <a:xfrm>
            <a:off x="9768840" y="6211669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8F63B30-6C0A-8BE3-B5E0-E408EF355F89}"/>
                  </a:ext>
                </a:extLst>
              </p:cNvPr>
              <p:cNvSpPr txBox="1"/>
              <p:nvPr/>
            </p:nvSpPr>
            <p:spPr>
              <a:xfrm>
                <a:off x="584616" y="404735"/>
                <a:ext cx="10613036" cy="2400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2: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Graficar y calcular el área de la porción del plano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2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𝑥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+3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𝑦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+4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𝑧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=12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que se encuentra en el 1er octante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Luego calcular su masa sabiendo que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𝛿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𝑧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+2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𝑦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𝑧</m:t>
                    </m:r>
                  </m:oMath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8F63B30-6C0A-8BE3-B5E0-E408EF355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6" y="404735"/>
                <a:ext cx="10613036" cy="2400657"/>
              </a:xfrm>
              <a:prstGeom prst="rect">
                <a:avLst/>
              </a:prstGeom>
              <a:blipFill>
                <a:blip r:embed="rId2"/>
                <a:stretch>
                  <a:fillRect l="-919" t="-3299" r="-132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87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2CBAD-317E-C012-8E04-7F219E7F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7739756-D0C8-4F36-3569-F5E558851177}"/>
              </a:ext>
            </a:extLst>
          </p:cNvPr>
          <p:cNvSpPr txBox="1"/>
          <p:nvPr/>
        </p:nvSpPr>
        <p:spPr>
          <a:xfrm>
            <a:off x="9768840" y="6211669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C491975-2A8B-3EF5-20F2-EFD3F30702EB}"/>
                  </a:ext>
                </a:extLst>
              </p:cNvPr>
              <p:cNvSpPr txBox="1"/>
              <p:nvPr/>
            </p:nvSpPr>
            <p:spPr>
              <a:xfrm>
                <a:off x="584616" y="404735"/>
                <a:ext cx="10613036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3: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Determinar el flujo del campo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𝑓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𝐷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⊂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a trav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és de la superficie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𝑆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3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:0≤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=4−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AR" sz="30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;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𝑓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=(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𝑥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𝑦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𝑧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</m:t>
                      </m:r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C491975-2A8B-3EF5-20F2-EFD3F3070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6" y="404735"/>
                <a:ext cx="10613036" cy="1938992"/>
              </a:xfrm>
              <a:prstGeom prst="rect">
                <a:avLst/>
              </a:prstGeom>
              <a:blipFill>
                <a:blip r:embed="rId2"/>
                <a:stretch>
                  <a:fillRect t="-408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63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8B85-801F-C1EE-5F0D-6BD53EB5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C5A9E9-2C60-861E-EAA4-CA4B4DC62795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F2D01C5-F7AD-515D-F31B-766177AA7877}"/>
                  </a:ext>
                </a:extLst>
              </p:cNvPr>
              <p:cNvSpPr txBox="1"/>
              <p:nvPr/>
            </p:nvSpPr>
            <p:spPr>
              <a:xfrm>
                <a:off x="1394086" y="900936"/>
                <a:ext cx="9983447" cy="4550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STOKES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𝑆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una superficie orientable con borde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𝐶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𝜕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𝑆</m:t>
                    </m:r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𝜕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+</m:t>
                              </m:r>
                            </m:sup>
                          </m:sSup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𝑭</m:t>
                              </m:r>
                            </m:e>
                          </m:acc>
                          <m:r>
                            <a:rPr lang="es-AR" sz="3000" b="1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AR" sz="30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𝒅𝒔</m:t>
                              </m:r>
                            </m:e>
                          </m:acc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s-AR" sz="30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∇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</m:e>
                          </m:acc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Donde F es un campo vectorial y C es recorrida en sentido positivo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F2D01C5-F7AD-515D-F31B-766177AA7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086" y="900936"/>
                <a:ext cx="9983447" cy="4550348"/>
              </a:xfrm>
              <a:prstGeom prst="rect">
                <a:avLst/>
              </a:prstGeom>
              <a:blipFill>
                <a:blip r:embed="rId2"/>
                <a:stretch>
                  <a:fillRect t="-1743" b="-32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81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A8E28-220B-7767-579D-6C4C0140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DB9C74C-9D74-4860-2A55-23B5BE2C3AB5}"/>
              </a:ext>
            </a:extLst>
          </p:cNvPr>
          <p:cNvSpPr txBox="1"/>
          <p:nvPr/>
        </p:nvSpPr>
        <p:spPr>
          <a:xfrm>
            <a:off x="9768840" y="6211669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210FF45-96ED-0F78-81FE-4E097109E1B2}"/>
                  </a:ext>
                </a:extLst>
              </p:cNvPr>
              <p:cNvSpPr txBox="1"/>
              <p:nvPr/>
            </p:nvSpPr>
            <p:spPr>
              <a:xfrm>
                <a:off x="584616" y="404735"/>
                <a:ext cx="10613036" cy="3152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4: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Aplicar el teorema de Stokes para calcular:</a:t>
                </a: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𝑑𝑥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+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−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𝑑𝑦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+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Con C el triángulo de vértices: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1,0,0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, 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0,1,0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, (0,0,1)</m:t>
                    </m:r>
                  </m:oMath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210FF45-96ED-0F78-81FE-4E097109E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6" y="404735"/>
                <a:ext cx="10613036" cy="3152851"/>
              </a:xfrm>
              <a:prstGeom prst="rect">
                <a:avLst/>
              </a:prstGeom>
              <a:blipFill>
                <a:blip r:embed="rId2"/>
                <a:stretch>
                  <a:fillRect t="-251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700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4FCD-411B-49F9-3CAD-682D9C70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E8FA681-7B96-542C-82F0-7F57974DEEC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8156BFC-BFD9-5D86-2A46-615E5D926C86}"/>
                  </a:ext>
                </a:extLst>
              </p:cNvPr>
              <p:cNvSpPr txBox="1"/>
              <p:nvPr/>
            </p:nvSpPr>
            <p:spPr>
              <a:xfrm>
                <a:off x="1394086" y="900936"/>
                <a:ext cx="9983447" cy="45378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GAUSS –DIVERGENCIA- 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𝑀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un macizo acotado con borde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𝜕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𝑀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𝑆</m:t>
                    </m:r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𝑆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𝜕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</m:e>
                          </m:acc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𝑑𝑆</m:t>
                              </m:r>
                            </m:e>
                          </m:acc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∭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s-AR" sz="30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∇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</m:e>
                          </m:acc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Donde F es un campo vectorial y S descripta con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normal saliente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8156BFC-BFD9-5D86-2A46-615E5D926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086" y="900936"/>
                <a:ext cx="9983447" cy="4537845"/>
              </a:xfrm>
              <a:prstGeom prst="rect">
                <a:avLst/>
              </a:prstGeom>
              <a:blipFill>
                <a:blip r:embed="rId2"/>
                <a:stretch>
                  <a:fillRect l="-672" t="-1747" r="-1527" b="-322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981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1550-A9BB-9C44-C9BF-AA323C62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FDED4DB-8516-0D15-7DEE-86AA26DB653B}"/>
              </a:ext>
            </a:extLst>
          </p:cNvPr>
          <p:cNvSpPr txBox="1"/>
          <p:nvPr/>
        </p:nvSpPr>
        <p:spPr>
          <a:xfrm>
            <a:off x="9768840" y="6211669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75E0D88-0367-B755-F52B-512A3CD3207F}"/>
                  </a:ext>
                </a:extLst>
              </p:cNvPr>
              <p:cNvSpPr txBox="1"/>
              <p:nvPr/>
            </p:nvSpPr>
            <p:spPr>
              <a:xfrm>
                <a:off x="584616" y="404735"/>
                <a:ext cx="10613036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3*: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Determinar el flujo del campo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𝑓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𝐷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⊂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a trav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és de la superficie 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𝑆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𝑧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3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:0≤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=4−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AR" sz="30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;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𝑓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=(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𝑥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𝑦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𝑧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</m:t>
                      </m:r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75E0D88-0367-B755-F52B-512A3CD32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6" y="404735"/>
                <a:ext cx="10613036" cy="1938992"/>
              </a:xfrm>
              <a:prstGeom prst="rect">
                <a:avLst/>
              </a:prstGeom>
              <a:blipFill>
                <a:blip r:embed="rId2"/>
                <a:stretch>
                  <a:fillRect t="-4088" r="-40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40875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E64E4AB930084299D6310910972BCF" ma:contentTypeVersion="4" ma:contentTypeDescription="Crear nuevo documento." ma:contentTypeScope="" ma:versionID="7c36414d06d47e3d3167f4c0d79ad96d">
  <xsd:schema xmlns:xsd="http://www.w3.org/2001/XMLSchema" xmlns:xs="http://www.w3.org/2001/XMLSchema" xmlns:p="http://schemas.microsoft.com/office/2006/metadata/properties" xmlns:ns2="e6951571-1f5f-46db-aa42-ecf55515a371" targetNamespace="http://schemas.microsoft.com/office/2006/metadata/properties" ma:root="true" ma:fieldsID="fc5064cac5e842f271555dd857a006a0" ns2:_="">
    <xsd:import namespace="e6951571-1f5f-46db-aa42-ecf55515a3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951571-1f5f-46db-aa42-ecf55515a3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82A525-B2BA-4AEB-ABAB-D79764E72614}"/>
</file>

<file path=customXml/itemProps2.xml><?xml version="1.0" encoding="utf-8"?>
<ds:datastoreItem xmlns:ds="http://schemas.openxmlformats.org/officeDocument/2006/customXml" ds:itemID="{2FCE4644-8656-4827-985B-B8492FC0B510}"/>
</file>

<file path=customXml/itemProps3.xml><?xml version="1.0" encoding="utf-8"?>
<ds:datastoreItem xmlns:ds="http://schemas.openxmlformats.org/officeDocument/2006/customXml" ds:itemID="{D7CDF182-E0BE-4EF8-AD46-EB871A37AB82}"/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471</Words>
  <Application>Microsoft Office PowerPoint</Application>
  <PresentationFormat>Panorámica</PresentationFormat>
  <Paragraphs>64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Aharoni</vt:lpstr>
      <vt:lpstr>Aptos</vt:lpstr>
      <vt:lpstr>Aptos Display</vt:lpstr>
      <vt:lpstr>Arial</vt:lpstr>
      <vt:lpstr>Arial Nova</vt:lpstr>
      <vt:lpstr>Berlin Sans FB Demi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FAGES LUCIANO RODOLFO</dc:creator>
  <cp:lastModifiedBy>FAGES LUCIANO RODOLFO</cp:lastModifiedBy>
  <cp:revision>3</cp:revision>
  <dcterms:created xsi:type="dcterms:W3CDTF">2025-06-09T09:05:21Z</dcterms:created>
  <dcterms:modified xsi:type="dcterms:W3CDTF">2025-06-18T02:13:15Z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0x01010032E64E4AB930084299D6310910972BCF</vt:lpwstr>
  </property>
</Properties>
</file>